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e5b8de6c-6763-c02e-d6d5-b648375d003f}">
          <p14:sldIdLst>
            <p14:sldId id="256"/>
          </p14:sldIdLst>
        </p14:section>
        <p14:section name="Problem" id="{61b73e4f-52a1-3194-6f08-b79d5f9ff7d8}">
          <p14:sldIdLst>
            <p14:sldId id="257"/>
          </p14:sldIdLst>
        </p14:section>
        <p14:section name="Solution" id="{4ddec0f5-1274-a559-9f19-3179cc60b95f}">
          <p14:sldIdLst>
            <p14:sldId id="258"/>
            <p14:sldId id="259"/>
          </p14:sldIdLst>
        </p14:section>
        <p14:section name="Customer &amp; market" id="{9d9cd7ae-4f17-7115-876e-104312bb243e}">
          <p14:sldIdLst>
            <p14:sldId id="260"/>
            <p14:sldId id="261"/>
          </p14:sldIdLst>
        </p14:section>
        <p14:section name="Vision &amp; scale" id="{f1a38521-b1e2-8113-d564-a9f35121f1ab}">
          <p14:sldIdLst>
            <p14:sldId id="262"/>
          </p14:sldIdLst>
        </p14:section>
        <p14:section name="Traction &amp; model" id="{5c281d8b-352d-61fa-ce4a-8c3ddebf3f7b}">
          <p14:sldIdLst>
            <p14:sldId id="263"/>
            <p14:sldId id="264"/>
          </p14:sldIdLst>
        </p14:section>
        <p14:section name="Team &amp; ask" id="{5bd8cacd-11e6-bf10-3d74-e2c6293b7e64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ScamCatch, a product of Mirae Opus LLC (California). Phone image: the live demo at scamcatch.io, showing the ScamCatch warning on a romance-investment scam.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FTC, Protecting Older Consumers 2024-2025, report to Congress, December 2025: overall cost of fraud to older adults in 2024 estimated between $10.1B and $81.5B; reported losses rose from about $600M (2020) to $2.4B (2024), driven by losses over $100,000. https://www.ftc.gov/system/files/ftc_gov/pdf/P144400-OlderAdultsReportDec2025.pdf
FBI IC3 2024 data as reported by AARP: adults 60+ reported nearly $4.9B lost, 147,000+ complaints, average loss $83,000. https://www.aarp.org/money/scams-fraud/fbi-report-fraud-2024/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 are from the live demo at scamcatch.io. The Android prototype reads on-screen text with consent (on-device OCR), runs AI scam detection on that text, and opens a live AI voice warning when a check is flagged.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Carefull: financial monitoring and alerts, with view-only access for trusted contacts (getcarefull.com, checked Oct 8, 2026). ZoraSafe: suspicious-content checks with risk explanations and next steps (zorasafe.com, checked Oct 8, 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Founder-identified buyers and channels: banks, credit unions, senior living communities, and adult children of older parents. Credit unions are proposed as the first buyer to pursue; pricing and the first paying buyer will be validated in pilots.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FTC Dec 2025: $10.1B-$81.5B overall cost of fraud to older adults in 2024. US Census Bureau Vintage 2024: 61.2M adults 65+. FDIC Quarterly Banking Profile Q2 2026: 4,238 insured institutions (ABA Banking Journal). NCUA Quarterly Data Summary Q2 2026: 4,214 federally insured credit unions, 146.1M members. Revenue figures are illustrative: $1 x 12 months x 61.2M = $734.4M; $1 x 12 x 20,000 = $240,000. Pricing is not validated.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is the vision animation from scamcatch.io: illustrative, not live data. Voice cost reflects the pinned live voice model price of about $0.05 per minute (founder configuration). Text recognition runs on the phone with ML Kit. Bank-triggered calls, consent-based reports to banks, authorities, trusted contacts and the community, the AI decoy that ties up scammers, and crypto tracing are vision features, not built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Founder-confirmed as of Oct 8, 2026: 0 users, 0 formal research studies, 0 pilots, 0 contracts, 0 customer commitments, $0 revenue. Prototype features per the project README and docs. The 90-day goals are proposed milestones for the founder to confirm.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Founder-confirmed: pre-revenue, $0 revenue, $0 MRR/ARR, $0 capital raised, not currently fundraising. Runway is the founder’s estimate at the current prototype scope (domain, hosting, and per-minute AI costs). Carefull pricing and funding: Coverager, Oct 11, 2023 ($29.99/month; $19.7M total raised).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Founder-confirmed: Jonathan Kim is the sole founder, a software engineer, and a first-time founder. No other team members or advisors today. Learned about AgeTech through an email exchange with Lona Choi Allum; this is not an endorsement.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_TITLE">
    <p:bg>
      <p:bgPr>
        <a:solidFill>
          <a:schemeClr val="accent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_CONTENT">
    <p:bg>
      <p:bgPr>
        <a:solidFill>
          <a:schemeClr val="accent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 txBox="1"/>
          <p:nvPr/>
        </p:nvSpPr>
        <p:spPr>
          <a:xfrm>
            <a:off x="54864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ScamCatch  ·  scamcatch.io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0080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0080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/tmp/claude-0/-home-claude/e654122d-8294-5e9d-b50d-bc515ace7f08/scratchpad/deck/logo-roun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566928" cy="566928"/>
          </a:xfrm>
          <a:prstGeom prst="rect">
            <a:avLst/>
          </a:prstGeom>
        </p:spPr>
      </p:pic>
      <p:sp>
        <p:nvSpPr>
          <p:cNvPr id="3" name="Wordmark"/>
          <p:cNvSpPr txBox="1"/>
          <p:nvPr/>
        </p:nvSpPr>
        <p:spPr>
          <a:xfrm>
            <a:off x="1389888" y="7498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ScamCatch</a:t>
            </a:r>
            <a:endParaRPr lang="en-US" sz="2000" dirty="0"/>
          </a:p>
        </p:txBody>
      </p:sp>
      <p:sp>
        <p:nvSpPr>
          <p:cNvPr id="4" name="Headline"/>
          <p:cNvSpPr txBox="1"/>
          <p:nvPr/>
        </p:nvSpPr>
        <p:spPr>
          <a:xfrm>
            <a:off x="685800" y="1783080"/>
            <a:ext cx="6583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voice that speaks up before you send.</a:t>
            </a:r>
            <a:endParaRPr lang="en-US" sz="5200" dirty="0"/>
          </a:p>
        </p:txBody>
      </p:sp>
      <p:sp>
        <p:nvSpPr>
          <p:cNvPr id="5" name="Subhead"/>
          <p:cNvSpPr txBox="1"/>
          <p:nvPr/>
        </p:nvSpPr>
        <p:spPr>
          <a:xfrm>
            <a:off x="685800" y="406908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ScamCatch catches scams on the phone, in the moment, and opens a live AI voice that talks the person through it before any money moves.</a:t>
            </a:r>
            <a:endParaRPr lang="en-US" sz="1800" dirty="0"/>
          </a:p>
        </p:txBody>
      </p:sp>
      <p:sp>
        <p:nvSpPr>
          <p:cNvPr id="6" name="Byline"/>
          <p:cNvSpPr txBox="1"/>
          <p:nvPr/>
        </p:nvSpPr>
        <p:spPr>
          <a:xfrm>
            <a:off x="685800" y="5897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Jonathan Kim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, Founder   ·   Mirae Opus LLC   ·   scamcatch.io</a:t>
            </a:r>
            <a:endParaRPr lang="en-US" sz="1400" dirty="0"/>
          </a:p>
        </p:txBody>
      </p:sp>
      <p:sp>
        <p:nvSpPr>
          <p:cNvPr id="7" name="Glow"/>
          <p:cNvSpPr/>
          <p:nvPr/>
        </p:nvSpPr>
        <p:spPr>
          <a:xfrm>
            <a:off x="7635240" y="1097280"/>
            <a:ext cx="4023360" cy="4206240"/>
          </a:xfrm>
          <a:prstGeom prst="ellipse">
            <a:avLst/>
          </a:prstGeom>
          <a:solidFill>
            <a:schemeClr val="accent3">
              <a:alpha val="18000"/>
            </a:schemeClr>
          </a:solidFill>
          <a:ln/>
        </p:spPr>
      </p:sp>
      <p:pic>
        <p:nvPicPr>
          <p:cNvPr id="8" name="Phone warning" descr="/tmp/claude-0/-home-claude/e654122d-8294-5e9d-b50d-bc515ace7f08/scratchpad/deck/phone-warn-c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6398" y="548640"/>
            <a:ext cx="2661043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bg1"/>
                </a:solidFill>
              </a:rPr>
              <a:t>Older Americans lost up to $81.5 billion to fraud in 2024</a:t>
            </a:r>
            <a:endParaRPr lang="en-US" sz="3200" dirty="0"/>
          </a:p>
        </p:txBody>
      </p:sp>
      <p:sp>
        <p:nvSpPr>
          <p:cNvPr id="5" name="Headline stat panel"/>
          <p:cNvSpPr/>
          <p:nvPr/>
        </p:nvSpPr>
        <p:spPr>
          <a:xfrm>
            <a:off x="548640" y="1645920"/>
            <a:ext cx="5120640" cy="4343400"/>
          </a:xfrm>
          <a:prstGeom prst="roundRect">
            <a:avLst>
              <a:gd name="adj" fmla="val 294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Stat"/>
          <p:cNvSpPr txBox="1"/>
          <p:nvPr/>
        </p:nvSpPr>
        <p:spPr>
          <a:xfrm>
            <a:off x="868680" y="187452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$81.5B</a:t>
            </a:r>
            <a:endParaRPr lang="en-US" sz="8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154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lost to fraud by Americans 60+ in 2024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70332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The FTC’s upper estimate, counting the many scams that are never reported. Its very conservative floor is $10.1 billion.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6634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Reported to the FTC  </a:t>
            </a:r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$2.4B</a:t>
            </a:r>
            <a:endParaRPr lang="en-US" sz="1200" dirty="0"/>
          </a:p>
        </p:txBody>
      </p:sp>
      <p:sp>
        <p:nvSpPr>
          <p:cNvPr id="10" name="Reported bar track"/>
          <p:cNvSpPr/>
          <p:nvPr/>
        </p:nvSpPr>
        <p:spPr>
          <a:xfrm>
            <a:off x="868680" y="4965192"/>
            <a:ext cx="4480560" cy="164592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1" name="Reported bar fill"/>
          <p:cNvSpPr/>
          <p:nvPr/>
        </p:nvSpPr>
        <p:spPr>
          <a:xfrm>
            <a:off x="868680" y="4965192"/>
            <a:ext cx="131943" cy="16459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68680" y="52852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Estimated, counting unreported scams  </a:t>
            </a:r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up to $81.5B</a:t>
            </a:r>
            <a:endParaRPr lang="en-US" sz="1200" dirty="0"/>
          </a:p>
        </p:txBody>
      </p:sp>
      <p:sp>
        <p:nvSpPr>
          <p:cNvPr id="13" name="Estimated bar"/>
          <p:cNvSpPr/>
          <p:nvPr/>
        </p:nvSpPr>
        <p:spPr>
          <a:xfrm>
            <a:off x="868680" y="5586984"/>
            <a:ext cx="4480560" cy="16459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035040" y="169164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4×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7543800" y="1764792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Reported losses grew from about $600 million in 2020 to $2.4 billion in 2024, driven by single losses over $100,000.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035040" y="27889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$83K</a:t>
            </a:r>
            <a:endParaRPr lang="en-US" sz="4000" dirty="0"/>
          </a:p>
        </p:txBody>
      </p:sp>
      <p:sp>
        <p:nvSpPr>
          <p:cNvPr id="17" name="Text 14"/>
          <p:cNvSpPr txBox="1"/>
          <p:nvPr/>
        </p:nvSpPr>
        <p:spPr>
          <a:xfrm>
            <a:off x="7543800" y="2862072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Average reported loss per victim age 60+ in 2024, across more than 147,000 FBI complaints.</a:t>
            </a:r>
            <a:endParaRPr lang="en-US" sz="1500" dirty="0"/>
          </a:p>
        </p:txBody>
      </p:sp>
      <p:sp>
        <p:nvSpPr>
          <p:cNvPr id="18" name="The gap callout"/>
          <p:cNvSpPr/>
          <p:nvPr/>
        </p:nvSpPr>
        <p:spPr>
          <a:xfrm>
            <a:off x="6035040" y="3931920"/>
            <a:ext cx="5605272" cy="2057400"/>
          </a:xfrm>
          <a:prstGeom prst="roundRect">
            <a:avLst>
              <a:gd name="adj" fmla="val 622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309360" y="4133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THE GAP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309360" y="448056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Every scam has a moment when the person is alone with the scammer, deciding. Today’s defenses, like chargebacks, police reports and account monitoring, show up after the money is gone.</a:t>
            </a:r>
            <a:endParaRPr lang="en-US" sz="1600" dirty="0"/>
          </a:p>
        </p:txBody>
      </p:sp>
      <p:sp>
        <p:nvSpPr>
          <p:cNvPr id="21" name="Sources"/>
          <p:cNvSpPr txBox="1"/>
          <p:nvPr/>
        </p:nvSpPr>
        <p:spPr>
          <a:xfrm>
            <a:off x="548640" y="6108192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Sources: FTC, Protecting Older Consumers 2024–2025 (Dec. 2025); FBI IC3 2024 data as reported by AARP.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0080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THE SOLUTION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bg1"/>
                </a:solidFill>
              </a:rPr>
              <a:t>It catches the scam on the phone, then starts a conversation</a:t>
            </a:r>
            <a:endParaRPr lang="en-US" sz="3200" dirty="0"/>
          </a:p>
        </p:txBody>
      </p:sp>
      <p:pic>
        <p:nvPicPr>
          <p:cNvPr id="5" name="Phone 1" descr="/tmp/claude-0/-home-claude/e654122d-8294-5e9d-b50d-bc515ace7f08/scratchpad/deck/phone-ask-c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2541" y="1600200"/>
            <a:ext cx="1478357" cy="32004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49194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   </a:t>
            </a:r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It reads the moment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5358384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With permission, it reads the text on screen in the apps people already use: texts, WhatsApp, Facebook.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3931920" y="2971800"/>
            <a:ext cx="5623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accent1"/>
                </a:solidFill>
              </a:rPr>
              <a:t>→</a:t>
            </a:r>
            <a:endParaRPr lang="en-US" sz="2600" dirty="0"/>
          </a:p>
        </p:txBody>
      </p:sp>
      <p:pic>
        <p:nvPicPr>
          <p:cNvPr id="9" name="Phone 2" descr="/tmp/claude-0/-home-claude/e654122d-8294-5e9d-b50d-bc515ace7f08/scratchpad/deck/phone-warn-c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5297" y="1600200"/>
            <a:ext cx="1478357" cy="32004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311396" y="49194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   </a:t>
            </a:r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It spots the pattern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4311396" y="5358384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An AI model flags the signs: a new online relationship, urgency, secrecy, a request for money.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7694676" y="2971800"/>
            <a:ext cx="5623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accent1"/>
                </a:solidFill>
              </a:rPr>
              <a:t>→</a:t>
            </a:r>
            <a:endParaRPr lang="en-US" sz="2600" dirty="0"/>
          </a:p>
        </p:txBody>
      </p:sp>
      <p:pic>
        <p:nvPicPr>
          <p:cNvPr id="13" name="Phone 3" descr="/tmp/claude-0/-home-claude/e654122d-8294-5e9d-b50d-bc515ace7f08/scratchpad/deck/phone-voice-cu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8053" y="1600200"/>
            <a:ext cx="1478357" cy="32004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074152" y="49194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   </a:t>
            </a:r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It calls you</a:t>
            </a:r>
            <a:endParaRPr lang="en-US" sz="1400" dirty="0"/>
          </a:p>
        </p:txBody>
      </p:sp>
      <p:sp>
        <p:nvSpPr>
          <p:cNvPr id="15" name="Text 9"/>
          <p:cNvSpPr txBox="1"/>
          <p:nvPr/>
        </p:nvSpPr>
        <p:spPr>
          <a:xfrm>
            <a:off x="8074152" y="5358384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 live AI voice opens, listens, asks questions, and helps the person check before any money moves.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0080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WHAT SETS US APART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bg1"/>
                </a:solidFill>
              </a:rPr>
              <a:t>Other tools act after the decision. ScamCatch acts during it</a:t>
            </a:r>
            <a:endParaRPr lang="en-US" sz="3200" dirty="0"/>
          </a:p>
        </p:txBody>
      </p:sp>
      <p:sp>
        <p:nvSpPr>
          <p:cNvPr id="5" name="Timeline"/>
          <p:cNvSpPr/>
          <p:nvPr/>
        </p:nvSpPr>
        <p:spPr>
          <a:xfrm>
            <a:off x="1188720" y="2331720"/>
            <a:ext cx="9601200" cy="0"/>
          </a:xfrm>
          <a:prstGeom prst="line">
            <a:avLst/>
          </a:prstGeom>
          <a:noFill/>
          <a:ln w="15875">
            <a:solidFill>
              <a:schemeClr val="bg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06424" y="2249424"/>
            <a:ext cx="164592" cy="164592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7432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First contact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026664" y="2249424"/>
            <a:ext cx="164592" cy="164592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19456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Trust builds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946904" y="2249424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11480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The ask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67144" y="2249424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03504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The decision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787384" y="2249424"/>
            <a:ext cx="164592" cy="164592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95528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Money moves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0707624" y="2249424"/>
            <a:ext cx="164592" cy="164592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87552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Loss reported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343400" y="2606040"/>
            <a:ext cx="3291840" cy="43891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343400" y="260604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ScamCatch steps in here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183880" y="2606040"/>
            <a:ext cx="1371600" cy="43891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183880" y="26060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Bank alerts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10104120" y="2606040"/>
            <a:ext cx="1371600" cy="43891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104120" y="26060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Monitoring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48640" y="3611880"/>
            <a:ext cx="2651760" cy="2103120"/>
          </a:xfrm>
          <a:prstGeom prst="roundRect">
            <a:avLst>
              <a:gd name="adj" fmla="val 608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77240" y="3840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Account monitoring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777240" y="41788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e.g. Carefull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77240" y="45262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Watches accounts and alerts family after transactions happen.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3361944" y="3611880"/>
            <a:ext cx="2651760" cy="2103120"/>
          </a:xfrm>
          <a:prstGeom prst="roundRect">
            <a:avLst>
              <a:gd name="adj" fmla="val 608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590544" y="3840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Scam checkers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3590544" y="41788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e.g. ZoraSafe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3590544" y="45262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Help only if the person already suspects a scam and stops to ask.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175248" y="3611880"/>
            <a:ext cx="2651760" cy="2103120"/>
          </a:xfrm>
          <a:prstGeom prst="roundRect">
            <a:avLst>
              <a:gd name="adj" fmla="val 608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403848" y="3840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Bank fraud alerts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6403848" y="41788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At payment time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6403848" y="45262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Arrive after the person has decided. Scammers often coach victims to wave them off.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8988552" y="3611880"/>
            <a:ext cx="2651760" cy="2103120"/>
          </a:xfrm>
          <a:prstGeom prst="roundRect">
            <a:avLst>
              <a:gd name="adj" fmla="val 6087"/>
            </a:avLst>
          </a:prstGeom>
          <a:solidFill>
            <a:schemeClr val="accent6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217152" y="3840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ScamCatch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9217152" y="41788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In the conversation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9217152" y="45262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Notices the scam in the chat itself, speaks first, and helps the person reach the answer on their own.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0080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TARGET CUSTOMER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bg1"/>
                </a:solidFill>
              </a:rPr>
              <a:t>Built for older adults. Paid for by those who protect them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3566160" cy="32004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1984248"/>
            <a:ext cx="713232" cy="71323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157984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2960" y="289864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The person we protect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36118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Adults 60+ who live on their phones: texts, WhatsApp, Facebook. We start with Android users.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311396" y="1691640"/>
            <a:ext cx="3566160" cy="32004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85716" y="1984248"/>
            <a:ext cx="713232" cy="71323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452" y="2157984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585716" y="289864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First buyer: banks and credit unions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4585716" y="36118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They want to stop fraud before the payment and keep their members’ trust. ScamCatch gives them a voice in that moment.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8074152" y="1691640"/>
            <a:ext cx="3566160" cy="32004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48472" y="1984248"/>
            <a:ext cx="713232" cy="71323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2157984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348472" y="289864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Also: families and senior living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8348472" y="36118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Adult children who want a safety net for Mom or Dad, and senior living communities protecting their residents.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548640" y="5120640"/>
            <a:ext cx="11091672" cy="566928"/>
          </a:xfrm>
          <a:prstGeom prst="roundRect">
            <a:avLst>
              <a:gd name="adj" fmla="val 22581"/>
            </a:avLst>
          </a:prstGeom>
          <a:solidFill>
            <a:schemeClr val="accent6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822960" y="51206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Beachhead: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community credit unions, which are member-owned and close to the older people they serve.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0080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THE MARKET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bg1"/>
                </a:solidFill>
              </a:rPr>
              <a:t>A problem worth billions, with a clear channel to reach it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$81.5B</a:t>
            </a:r>
            <a:endParaRPr lang="en-US" sz="5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97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lost by Americans 60+ in 2024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906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FTC upper estimate; floor $10.1B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311396" y="16916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61.2M</a:t>
            </a:r>
            <a:endParaRPr lang="en-US" sz="5800" dirty="0"/>
          </a:p>
        </p:txBody>
      </p:sp>
      <p:sp>
        <p:nvSpPr>
          <p:cNvPr id="9" name="Text 6"/>
          <p:cNvSpPr txBox="1"/>
          <p:nvPr/>
        </p:nvSpPr>
        <p:spPr>
          <a:xfrm>
            <a:off x="4311396" y="2697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Americans age 65 and older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4311396" y="30906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U.S. Census Bureau, 2024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074152" y="16916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8,452</a:t>
            </a:r>
            <a:endParaRPr lang="en-US" sz="5800" dirty="0"/>
          </a:p>
        </p:txBody>
      </p:sp>
      <p:sp>
        <p:nvSpPr>
          <p:cNvPr id="12" name="Text 9"/>
          <p:cNvSpPr txBox="1"/>
          <p:nvPr/>
        </p:nvSpPr>
        <p:spPr>
          <a:xfrm>
            <a:off x="8074152" y="2697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U.S. banks and credit unions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8074152" y="30906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FDIC and NCUA, mid-2026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749040"/>
            <a:ext cx="11091672" cy="192024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39776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$734M</a:t>
            </a:r>
            <a:endParaRPr lang="en-US" sz="54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4892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 year in revenue potential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480560" y="4023360"/>
            <a:ext cx="6858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If institutions pay $1 per protected senior per month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across 61.2 million Americans 65+. One credit union with 20,000 members 65+ would be $240,000 a year.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Illustrative pricing. We will set real prices in pilots.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0080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THE VISION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bg1"/>
                </a:solidFill>
              </a:rPr>
              <a:t>A first line of defense on every phone in America</a:t>
            </a:r>
            <a:endParaRPr lang="en-US" sz="3200" dirty="0"/>
          </a:p>
        </p:txBody>
      </p:sp>
      <p:pic>
        <p:nvPicPr>
          <p:cNvPr id="5" name="Vision map" descr="/tmp/claude-0/-home-claude/e654122d-8294-5e9d-b50d-bc515ace7f08/scratchpad/deck/map-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675120" cy="344607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037128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Illustration from scamcatch.io, not live data.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548640" y="5349240"/>
            <a:ext cx="6675120" cy="868680"/>
          </a:xfrm>
          <a:prstGeom prst="roundRect">
            <a:avLst>
              <a:gd name="adj" fmla="val 1473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539496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Built to scale.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Text recognition runs on the phone. The AI voice costs about 5 cents a minute and only runs when a scam is flagged. One frontline layer of many, alongside banks, carriers, family and law enforcement.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7671816" y="1828800"/>
            <a:ext cx="0" cy="342900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589520" y="1655064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955280" y="160020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NOW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955280" y="1892808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Android app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7955280" y="2221992"/>
            <a:ext cx="3685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Catches scams in any app, right on the phone.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589520" y="2798064"/>
            <a:ext cx="164592" cy="164592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55280" y="274320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bg2"/>
                </a:solidFill>
              </a:rPr>
              <a:t>NEXT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7955280" y="3035808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Bank-triggered calls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7955280" y="3364992"/>
            <a:ext cx="3685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 risky payment at a partner bank starts a ScamCatch call first.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7589520" y="3941064"/>
            <a:ext cx="164592" cy="164592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7955280" y="388620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bg2"/>
                </a:solidFill>
              </a:rPr>
              <a:t>THEN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7955280" y="4178808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Every phone in America</a:t>
            </a:r>
            <a:endParaRPr lang="en-US" sz="1700" dirty="0"/>
          </a:p>
        </p:txBody>
      </p:sp>
      <p:sp>
        <p:nvSpPr>
          <p:cNvPr id="21" name="Text 17"/>
          <p:cNvSpPr txBox="1"/>
          <p:nvPr/>
        </p:nvSpPr>
        <p:spPr>
          <a:xfrm>
            <a:off x="7955280" y="4507992"/>
            <a:ext cx="3685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With the person’s OK, alerts go to their bank, the authorities, family and community.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7589520" y="5084064"/>
            <a:ext cx="164592" cy="164592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7955280" y="502920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bg2"/>
                </a:solidFill>
              </a:rPr>
              <a:t>BEYOND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7955280" y="5321808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Fighting back</a:t>
            </a:r>
            <a:endParaRPr lang="en-US" sz="1700" dirty="0"/>
          </a:p>
        </p:txBody>
      </p:sp>
      <p:sp>
        <p:nvSpPr>
          <p:cNvPr id="25" name="Text 21"/>
          <p:cNvSpPr txBox="1"/>
          <p:nvPr/>
        </p:nvSpPr>
        <p:spPr>
          <a:xfrm>
            <a:off x="7955280" y="5650992"/>
            <a:ext cx="3685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An AI decoy ties up the scammer. Crypto tracing follows the money to the exchange.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0080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TRACTION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bg1"/>
                </a:solidFill>
              </a:rPr>
              <a:t>A working product, built solo. Customers come next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WHAT’S BUILT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258568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8720" y="210312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Android app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1188720" y="245059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Reads the screen in any app, with the person’s consent.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313639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246120"/>
            <a:ext cx="201168" cy="20116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88720" y="309067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AI scam detection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1188720" y="343814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Flags scam patterns in the text the person is reading.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548640" y="412394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233672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88720" y="407822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Live AI voice</a:t>
            </a:r>
            <a:endParaRPr lang="en-US" sz="1700" dirty="0"/>
          </a:p>
        </p:txBody>
      </p:sp>
      <p:sp>
        <p:nvSpPr>
          <p:cNvPr id="17" name="Text 11"/>
          <p:cNvSpPr txBox="1"/>
          <p:nvPr/>
        </p:nvSpPr>
        <p:spPr>
          <a:xfrm>
            <a:off x="1188720" y="44256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Opens when a scam is flagged and talks the person through it.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548640" y="511149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5221224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188720" y="506577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Public live demo</a:t>
            </a:r>
            <a:endParaRPr lang="en-US" sz="1700" dirty="0"/>
          </a:p>
        </p:txBody>
      </p:sp>
      <p:sp>
        <p:nvSpPr>
          <p:cNvPr id="21" name="Text 14"/>
          <p:cNvSpPr txBox="1"/>
          <p:nvPr/>
        </p:nvSpPr>
        <p:spPr>
          <a:xfrm>
            <a:off x="1188720" y="541324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scamcatch.io: 8 real-world scams and a live AI voice anyone can try.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6812280" y="1691640"/>
            <a:ext cx="4828032" cy="2103120"/>
          </a:xfrm>
          <a:prstGeom prst="roundRect">
            <a:avLst>
              <a:gd name="adj" fmla="val 6087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7086600" y="1874520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bg2"/>
                </a:solidFill>
              </a:rPr>
              <a:t>WHERE WE ARE TODAY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7086600" y="2240280"/>
            <a:ext cx="1069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</a:t>
            </a:r>
            <a:endParaRPr lang="en-US" sz="4000" dirty="0"/>
          </a:p>
        </p:txBody>
      </p:sp>
      <p:sp>
        <p:nvSpPr>
          <p:cNvPr id="25" name="Text 18"/>
          <p:cNvSpPr txBox="1"/>
          <p:nvPr/>
        </p:nvSpPr>
        <p:spPr>
          <a:xfrm>
            <a:off x="7086600" y="2926080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users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8156448" y="2240280"/>
            <a:ext cx="1069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</a:t>
            </a:r>
            <a:endParaRPr lang="en-US" sz="4000" dirty="0"/>
          </a:p>
        </p:txBody>
      </p:sp>
      <p:sp>
        <p:nvSpPr>
          <p:cNvPr id="27" name="Text 20"/>
          <p:cNvSpPr txBox="1"/>
          <p:nvPr/>
        </p:nvSpPr>
        <p:spPr>
          <a:xfrm>
            <a:off x="8156448" y="2926080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pilots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9226296" y="2240280"/>
            <a:ext cx="1069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</a:t>
            </a:r>
            <a:endParaRPr lang="en-US" sz="4000" dirty="0"/>
          </a:p>
        </p:txBody>
      </p:sp>
      <p:sp>
        <p:nvSpPr>
          <p:cNvPr id="29" name="Text 22"/>
          <p:cNvSpPr txBox="1"/>
          <p:nvPr/>
        </p:nvSpPr>
        <p:spPr>
          <a:xfrm>
            <a:off x="9226296" y="2926080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contracts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10296144" y="2240280"/>
            <a:ext cx="1069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$0</a:t>
            </a:r>
            <a:endParaRPr lang="en-US" sz="4000" dirty="0"/>
          </a:p>
        </p:txBody>
      </p:sp>
      <p:sp>
        <p:nvSpPr>
          <p:cNvPr id="31" name="Text 24"/>
          <p:cNvSpPr txBox="1"/>
          <p:nvPr/>
        </p:nvSpPr>
        <p:spPr>
          <a:xfrm>
            <a:off x="10296144" y="2926080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revenue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7086600" y="3291840"/>
            <a:ext cx="4279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Pre-launch, and we say so plainly. The product works. Now it needs people.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6812280" y="3977640"/>
            <a:ext cx="4828032" cy="1783080"/>
          </a:xfrm>
          <a:prstGeom prst="roundRect">
            <a:avLst>
              <a:gd name="adj" fmla="val 7179"/>
            </a:avLst>
          </a:prstGeom>
          <a:solidFill>
            <a:schemeClr val="accent6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7086600" y="4160520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NEXT 90 DAYS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7086600" y="4526280"/>
            <a:ext cx="42793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chemeClr val="bg1"/>
                </a:solidFill>
              </a:rPr>
              <a:t>Test the voice with 25 older adults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chemeClr val="bg1"/>
                </a:solidFill>
              </a:rPr>
              <a:t>Sign a first credit union pilot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chemeClr val="bg1"/>
                </a:solidFill>
              </a:rPr>
              <a:t>Measure how often people pause and verify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0080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REVENUE MODEL AND FUNDING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bg1"/>
                </a:solidFill>
              </a:rPr>
              <a:t>Institutions license it. Families can buy it directly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5669280" cy="1417320"/>
          </a:xfrm>
          <a:prstGeom prst="roundRect">
            <a:avLst>
              <a:gd name="adj" fmla="val 9032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87452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Institutional license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402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Banks, credit unions and senior living pay per protected member per month, and offer ScamCatch free to their older customers.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264408"/>
            <a:ext cx="5669280" cy="1188720"/>
          </a:xfrm>
          <a:prstGeom prst="roundRect">
            <a:avLst>
              <a:gd name="adj" fmla="val 10769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344728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Family plan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81304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Adult children subscribe on behalf of a parent.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6634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WHY WE BELIEVE THEY’LL PAY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010912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chemeClr val="bg1"/>
                </a:solidFill>
              </a:rPr>
              <a:t>Families already pay $29.99 a month for after-the-fact monitoring (Carefull, 2023).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chemeClr val="bg1"/>
                </a:solidFill>
              </a:rPr>
              <a:t>Investors have put $19.7 million into that one company alone.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629400" y="1691640"/>
            <a:ext cx="5010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WHERE THE MONEY STANDS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2103120"/>
          <a:ext cx="5010912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41071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Revenue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Pre-revenue: $0, with $0 MRR and ARR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Raised to date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$0, founder-funded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Raising now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Runway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Ongoing at prototype scale. Costs are low: hosting and per-minute AI.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0080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TEAM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bg1"/>
                </a:solidFill>
              </a:rPr>
              <a:t>One builder, a clear mission, and a short list of asks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737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JK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1783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Jonathan Kim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2377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Founder  ·  Software engineer  ·  First-time founder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017520"/>
            <a:ext cx="5760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Built every piece of ScamCatch himself: the Android app, the AI detection pipeline, the live voice, and the cloud behind scamcatch.io.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Advisors: none yet. The first seats to fill are a bank fraud-operations lead and an aging researcher.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812280" y="1691640"/>
            <a:ext cx="4828032" cy="3474720"/>
          </a:xfrm>
          <a:prstGeom prst="roundRect">
            <a:avLst>
              <a:gd name="adj" fmla="val 3684"/>
            </a:avLst>
          </a:prstGeom>
          <a:solidFill>
            <a:schemeClr val="accent6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132320" y="1920240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WHAT WE’RE ASKING FOR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132320" y="23774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7680960" y="2450592"/>
            <a:ext cx="3639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Older adults to test ScamCatch and tell us the truth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132320" y="32461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7680960" y="3319272"/>
            <a:ext cx="3639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 bank or credit union pilot partner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132320" y="4114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7680960" y="4187952"/>
            <a:ext cx="3639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Mentorship through the AgeTech Collaborative accelerator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44068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Our mission: </a:t>
            </a:r>
            <a:pPr indent="0" marL="0">
              <a:buNone/>
            </a:pPr>
            <a:r>
              <a:rPr lang="en-US" sz="2800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take the money lost to scams to zero.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0080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amCatch Night">
  <a:themeElements>
    <a:clrScheme name="ScamCatch Night">
      <a:dk1>
        <a:srgbClr val="0C1124"/>
      </a:dk1>
      <a:lt1>
        <a:srgbClr val="EEF0F7"/>
      </a:lt1>
      <a:dk2>
        <a:srgbClr val="1A2142"/>
      </a:dk2>
      <a:lt2>
        <a:srgbClr val="A9B1CC"/>
      </a:lt2>
      <a:accent1>
        <a:srgbClr val="F4C27A"/>
      </a:accent1>
      <a:accent2>
        <a:srgbClr val="7AB0FF"/>
      </a:accent2>
      <a:accent3>
        <a:srgbClr val="3D6DF0"/>
      </a:accent3>
      <a:accent4>
        <a:srgbClr val="FF6F61"/>
      </a:accent4>
      <a:accent5>
        <a:srgbClr val="10162B"/>
      </a:accent5>
      <a:accent6>
        <a:srgbClr val="2A3358"/>
      </a:accent6>
      <a:hlink>
        <a:srgbClr val="7AB0FF"/>
      </a:hlink>
      <a:folHlink>
        <a:srgbClr val="A9B1CC"/>
      </a:folHlink>
    </a:clrScheme>
    <a:fontScheme name="ScamCatch Night">
      <a:majorFont>
        <a:latin typeface="Newsread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anken Grotes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Mirae Opus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ScamCatch</dc:title>
  <dc:subject>PptxGenJS Presentation</dc:subject>
  <dc:creator>Jonathan Kim</dc:creator>
  <cp:lastModifiedBy>Jonathan Kim</cp:lastModifiedBy>
  <cp:revision>1</cp:revision>
  <dcterms:created xsi:type="dcterms:W3CDTF">2026-10-11T22:10:32Z</dcterms:created>
  <dcterms:modified xsi:type="dcterms:W3CDTF">2026-10-11T22:10:32Z</dcterms:modified>
</cp:coreProperties>
</file>