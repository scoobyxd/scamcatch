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dd2efa2b6d24c3e" /><Relationship Type="http://schemas.openxmlformats.org/officeDocument/2006/relationships/extended-properties" Target="/docProps/app.xml" Id="Ra44ef77b64224a99" /><Relationship Type="http://schemas.openxmlformats.org/officeDocument/2006/relationships/officeDocument" Target="/ppt/presentation.xml" Id="Rc1ba5abc05b2450d" /></Relationships>
</file>

<file path=ppt/presentation.xml><?xml version="1.0" encoding="utf-8"?>
<p:presentation xmlns:p="http://schemas.openxmlformats.org/presentationml/2006/main">
  <p:sldMasterIdLst>
    <p:sldMasterId xmlns:r="http://schemas.openxmlformats.org/officeDocument/2006/relationships" id="2147483648" r:id="Rd7347acd0b084395"/>
  </p:sldMasterIdLst>
  <p:notesMasterIdLst>
    <p:notesMasterId xmlns:r="http://schemas.openxmlformats.org/officeDocument/2006/relationships" r:id="Rca7e4078f6804906"/>
  </p:notesMasterIdLst>
  <p:sldIdLst>
    <p:sldId xmlns:r="http://schemas.openxmlformats.org/officeDocument/2006/relationships" id="256" r:id="R838d896621a84d54"/>
    <p:sldId xmlns:r="http://schemas.openxmlformats.org/officeDocument/2006/relationships" id="257" r:id="R0c2ff491ca614c71"/>
    <p:sldId xmlns:r="http://schemas.openxmlformats.org/officeDocument/2006/relationships" id="258" r:id="Rc14adbe980dc4d75"/>
    <p:sldId xmlns:r="http://schemas.openxmlformats.org/officeDocument/2006/relationships" id="259" r:id="R779789979d634d06"/>
    <p:sldId xmlns:r="http://schemas.openxmlformats.org/officeDocument/2006/relationships" id="260" r:id="R41ba39eb8fd1420a"/>
    <p:sldId xmlns:r="http://schemas.openxmlformats.org/officeDocument/2006/relationships" id="261" r:id="Ra1e181b1bdbf43ae"/>
    <p:sldId xmlns:r="http://schemas.openxmlformats.org/officeDocument/2006/relationships" id="262" r:id="R9843f482bb6843ea"/>
    <p:sldId xmlns:r="http://schemas.openxmlformats.org/officeDocument/2006/relationships" id="263" r:id="R9b4b3e8aa8f04fc2"/>
    <p:sldId xmlns:r="http://schemas.openxmlformats.org/officeDocument/2006/relationships" id="264" r:id="R8630dba7dc5b4d88"/>
    <p:sldId xmlns:r="http://schemas.openxmlformats.org/officeDocument/2006/relationships" id="265" r:id="R304a75960e57405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a401b399379483a" /><Relationship Type="http://schemas.openxmlformats.org/officeDocument/2006/relationships/slideMaster" Target="/ppt/slideMasters/slideMaster1.xml" Id="Rd7347acd0b084395" /><Relationship Type="http://schemas.openxmlformats.org/officeDocument/2006/relationships/notesMaster" Target="/ppt/notesMasters/notesMaster1.xml" Id="Rca7e4078f6804906" /><Relationship Type="http://schemas.openxmlformats.org/officeDocument/2006/relationships/presProps" Target="/ppt/presProps.xml" Id="R637ee2f4f7f240cf" /><Relationship Type="http://schemas.openxmlformats.org/officeDocument/2006/relationships/tableStyles" Target="/ppt/tableStyles.xml" Id="R36119ea0fda243aa" /><Relationship Type="http://schemas.openxmlformats.org/officeDocument/2006/relationships/slide" Target="/ppt/slides/slide1.xml" Id="R838d896621a84d54" /><Relationship Type="http://schemas.openxmlformats.org/officeDocument/2006/relationships/slide" Target="/ppt/slides/slide2.xml" Id="R0c2ff491ca614c71" /><Relationship Type="http://schemas.openxmlformats.org/officeDocument/2006/relationships/slide" Target="/ppt/slides/slide3.xml" Id="Rc14adbe980dc4d75" /><Relationship Type="http://schemas.openxmlformats.org/officeDocument/2006/relationships/slide" Target="/ppt/slides/slide4.xml" Id="R779789979d634d06" /><Relationship Type="http://schemas.openxmlformats.org/officeDocument/2006/relationships/slide" Target="/ppt/slides/slide5.xml" Id="R41ba39eb8fd1420a" /><Relationship Type="http://schemas.openxmlformats.org/officeDocument/2006/relationships/slide" Target="/ppt/slides/slide6.xml" Id="Ra1e181b1bdbf43ae" /><Relationship Type="http://schemas.openxmlformats.org/officeDocument/2006/relationships/slide" Target="/ppt/slides/slide7.xml" Id="R9843f482bb6843ea" /><Relationship Type="http://schemas.openxmlformats.org/officeDocument/2006/relationships/slide" Target="/ppt/slides/slide8.xml" Id="R9b4b3e8aa8f04fc2" /><Relationship Type="http://schemas.openxmlformats.org/officeDocument/2006/relationships/slide" Target="/ppt/slides/slide9.xml" Id="R8630dba7dc5b4d88" /><Relationship Type="http://schemas.openxmlformats.org/officeDocument/2006/relationships/slide" Target="/ppt/slides/slide10.xml" Id="R304a75960e57405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bfe29f7dc7a4db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99d71c5909346b7" /><Relationship Type="http://schemas.openxmlformats.org/officeDocument/2006/relationships/notesMaster" Target="/ppt/notesMasters/notesMaster1.xml" Id="R9a6ef7496f5a406e" /></Relationships>
</file>

<file path=ppt/notesSlides/_rels/notesSlide2.xml.rels>&#65279;<?xml version="1.0" encoding="utf-8"?><Relationships xmlns="http://schemas.openxmlformats.org/package/2006/relationships"><Relationship Type="http://schemas.openxmlformats.org/officeDocument/2006/relationships/slide" Target="/ppt/slides/slide2.xml" Id="Rc61451a2a10e4033" /><Relationship Type="http://schemas.openxmlformats.org/officeDocument/2006/relationships/notesMaster" Target="/ppt/notesMasters/notesMaster1.xml" Id="R6bfc9684c41e4b80" /></Relationships>
</file>

<file path=ppt/notesSlides/_rels/notesSlide3.xml.rels>&#65279;<?xml version="1.0" encoding="utf-8"?><Relationships xmlns="http://schemas.openxmlformats.org/package/2006/relationships"><Relationship Type="http://schemas.openxmlformats.org/officeDocument/2006/relationships/slide" Target="/ppt/slides/slide3.xml" Id="R78d8924ff47c449b" /><Relationship Type="http://schemas.openxmlformats.org/officeDocument/2006/relationships/notesMaster" Target="/ppt/notesMasters/notesMaster1.xml" Id="R2117ae08d496422e" /></Relationships>
</file>

<file path=ppt/notesSlides/_rels/notesSlide4.xml.rels>&#65279;<?xml version="1.0" encoding="utf-8"?><Relationships xmlns="http://schemas.openxmlformats.org/package/2006/relationships"><Relationship Type="http://schemas.openxmlformats.org/officeDocument/2006/relationships/slide" Target="/ppt/slides/slide4.xml" Id="R43f1ec77d1274e64" /><Relationship Type="http://schemas.openxmlformats.org/officeDocument/2006/relationships/notesMaster" Target="/ppt/notesMasters/notesMaster1.xml" Id="Rd50e5ad861b344e7" /></Relationships>
</file>

<file path=ppt/notesSlides/_rels/notesSlide5.xml.rels>&#65279;<?xml version="1.0" encoding="utf-8"?><Relationships xmlns="http://schemas.openxmlformats.org/package/2006/relationships"><Relationship Type="http://schemas.openxmlformats.org/officeDocument/2006/relationships/slide" Target="/ppt/slides/slide5.xml" Id="Rdcd27156dae646bf" /><Relationship Type="http://schemas.openxmlformats.org/officeDocument/2006/relationships/notesMaster" Target="/ppt/notesMasters/notesMaster1.xml" Id="R309472c92af84249" /></Relationships>
</file>

<file path=ppt/notesSlides/_rels/notesSlide6.xml.rels>&#65279;<?xml version="1.0" encoding="utf-8"?><Relationships xmlns="http://schemas.openxmlformats.org/package/2006/relationships"><Relationship Type="http://schemas.openxmlformats.org/officeDocument/2006/relationships/slide" Target="/ppt/slides/slide6.xml" Id="Rb898014ba5d84ebb" /><Relationship Type="http://schemas.openxmlformats.org/officeDocument/2006/relationships/notesMaster" Target="/ppt/notesMasters/notesMaster1.xml" Id="R12cf4dc028384f0d" /></Relationships>
</file>

<file path=ppt/notesSlides/_rels/notesSlide7.xml.rels>&#65279;<?xml version="1.0" encoding="utf-8"?><Relationships xmlns="http://schemas.openxmlformats.org/package/2006/relationships"><Relationship Type="http://schemas.openxmlformats.org/officeDocument/2006/relationships/slide" Target="/ppt/slides/slide7.xml" Id="R9897a6fe2c654b3f" /><Relationship Type="http://schemas.openxmlformats.org/officeDocument/2006/relationships/notesMaster" Target="/ppt/notesMasters/notesMaster1.xml" Id="R750f7f8b1d534939" /></Relationships>
</file>

<file path=ppt/notesSlides/_rels/notesSlide8.xml.rels>&#65279;<?xml version="1.0" encoding="utf-8"?><Relationships xmlns="http://schemas.openxmlformats.org/package/2006/relationships"><Relationship Type="http://schemas.openxmlformats.org/officeDocument/2006/relationships/slide" Target="/ppt/slides/slide8.xml" Id="R6aa0e7d0fa8648c8" /><Relationship Type="http://schemas.openxmlformats.org/officeDocument/2006/relationships/notesMaster" Target="/ppt/notesMasters/notesMaster1.xml" Id="R4aba750c7b3749b9" /></Relationships>
</file>

<file path=ppt/notesSlides/_rels/notesSlide9.xml.rels>&#65279;<?xml version="1.0" encoding="utf-8"?><Relationships xmlns="http://schemas.openxmlformats.org/package/2006/relationships"><Relationship Type="http://schemas.openxmlformats.org/officeDocument/2006/relationships/slide" Target="/ppt/slides/slide9.xml" Id="R0e216e28c3584b55" /><Relationship Type="http://schemas.openxmlformats.org/officeDocument/2006/relationships/notesMaster" Target="/ppt/notesMasters/notesMaster1.xml" Id="R7e7ca6d41b79435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33a1f94a5ac42d6" /><Relationship Type="http://schemas.openxmlformats.org/officeDocument/2006/relationships/notesMaster" Target="/ppt/notesMasters/notesMaster1.xml" Id="R19767e0ac82c4e1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Company and founder information: user statements and official California records verified October 8, 2026. MIRAE OPUS LLC, SOS entity B20250299103, formed September 15, 2025. SOS status Active. SOS, FTB, Agent and VCFCF standing Good. Official evidence is in application/scamcatch/company-evidence. Application eligibility under the incorporated-organization wording remains unresolved. The product is a development prototype. Bank integration and escalation are proposed. Website: https://scamcatch.io. Domain purchased October 8, 2026. The site uses AWS hosting.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https://www.ftc.gov/news-events/news/press-releases/2025/12/ftc-issues-annual-report-congress-agencys-actions-protect-older-adults</a:t>
            </a:r>
          </a:p>
          <a:p xmlns:a="http://schemas.openxmlformats.org/drawingml/2006/main">
            <a:r>
              <a:t>FTC release published December 1, 2025, reporting Consumer Sentinel complaints for 2024. Ages 60+. Reported losses increased from about $600M in 2020 to $2.4B in 2024. These are reported losses, not all losses, ScamCatch results, or a revenue market. Founder observation: victim interviews motivated the idea that a timely conversation could support independent verification. This hypothesis is unproven.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evidence: repository README.md and docs/voice.md, inspected October 8, 2026. The Android development build captures visible text with consent, flags a check, and supports an automatic voice warning after prerequisites. No live session was tested for this application. Planned features: bank payment signal, financial-institution escalation, trusted-contact alerts. Product must not claim it blocked a payment.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founder-input-needed.txt, completed by the founder. Target audiences: seniors, banks, credit unions, elderly homes, and children of elderly parents. The slide uses older adults and senior living homes as plain descriptions. No pilot, customer, contract, commitment, or partnership exists according to the founder. The first buyer, channel, price and budget need selection or validation. The initial transfer use case is a proposal.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https://www.census.gov/newsroom/press-releases/2025/older-adults-outnumber-children.html</a:t>
            </a:r>
          </a:p>
          <a:p xmlns:a="http://schemas.openxmlformats.org/drawingml/2006/main">
            <a:r>
              <a:t>Census release dated June 26, 2025. Vintage 2024 Population Estimates: 61.2M US residents age 65+, 18.0% of the population. This count is context and is not the entire target segment (age 50+), the number of paying customers, a serviceable market, or a revenue TAM. Revenue market size must follow validated institutions, reachable users, and pricing. No market revenue estimate is asserted.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accessed October 8, 2026: https://getcarefull.com/ and https://www.zorasafe.com/</a:t>
            </a:r>
          </a:p>
          <a:p xmlns:a="http://schemas.openxmlformats.org/drawingml/2006/main">
            <a:r>
              <a:t>Carefull advertises account monitoring, alerts and view-only trusted-contact support. ZoraSafe advertises suspicious-content checking and explanations with next steps. This is a brief comparison of advertised focus. It does not claim either competitor lacks voice support or bank integrations. ScamCatch status comes from project documentation and founder intent. Its differentiation remains a hypothesis.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Evidence: C:/Users/Jonat/antiscam/README.md and docs/voice.md, inspected October 8, 2026. Documentation supports development implementation. It does not establish production readiness, a successful live session in this preparation task, accuracy or prevented losses. Source: completed founder-input-needed.txt. Founder confirms zero users, zero formal research, zero pilots, zero contracts and zero customer commitments. Watching victim interviews is informal observation, not formal customer research. No validated performance or outcome results were supplied.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founder lists older adults, adult children, banks, credit unions and senior living homes as target buyers or users. The existing institutional licensing strategy remains an unconfirmed proposal. No additional payment model is asserted. The first buyer, pricing and demand still need validation. Source: completed founder-input-needed.txt confirms total revenue, MRR and ARR of $0.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founder-input-needed.txt and direct founder clarification, October 8, 2026. Total revenue, MRR, ARR and capital raised are $0. The company is not currently fundraising. Founder estimates ongoing runway at the current prototype scope. This is the founder estimate, not audited unlimited financial runway or zero operating costs. Domain registration and AWS hosting have real costs. Changes in scope or costs can change runway. The live application does not directly require cash balance or monthly burn. Required deck subject: https://forms.monday.com/forms/embed/4fdec6d030dbdccc53e83ed2b7c1df6e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Founder identity, Founder title and software-engineer background come from the user and established context. The completed founder-input-needed.txt states Just me for founders, team and advisors. Jonathan Kim is the sole founder, with no additional team members or advisors listed. Direct founder clarification on October 8, 2026 confirms this is his first startup. Official California records verified October 8, 2026: MIRAE OPUS LLC, SOS entity B20250299103, Active, with SOS, FTB, Agent and VCFCF standing Good. Application eligibility remains unresolved. No AARP endorsement or partnership is claimed. The application asks are proposals.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45783e50c52459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e9f7fec03b04b6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6fe2f7cf3b1417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3251ff8481143b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d263994d0dc428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cb5f19b16cd428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4D49C07-7151-4871-B7C7-F3E30D2945B2}"/>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9F0F0936-1C93-4E0B-95EA-9738ABF65B91}"/>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8E0A3579-E9DC-4CF1-AD5A-A9EC41987C3A}"/>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0B7CD7D-BB2F-4E70-AA74-2B5A1966EA0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158422F0-07E1-4794-85C7-9E8EA855B111}"/>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18479C6-3E35-4E04-B651-6D3E3683533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F10B9DB-ACC0-4BA0-825F-8343C4793B1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7896771B-9F3A-4B56-8C09-E0B95555C53A}"/>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688F0FD-E2D2-4024-A3D0-303B07B8CD5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E26459B-22E1-4FC8-B140-F9F63B38563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9b3815f9eb74f0c" /><Relationship Type="http://schemas.openxmlformats.org/officeDocument/2006/relationships/slideLayout" Target="/ppt/slideLayouts/slideLayout1.xml" Id="Rfadc184105e54add" /><Relationship Type="http://schemas.openxmlformats.org/officeDocument/2006/relationships/slideLayout" Target="/ppt/slideLayouts/slideLayout2.xml" Id="R7170948c5563448e" /><Relationship Type="http://schemas.openxmlformats.org/officeDocument/2006/relationships/slideLayout" Target="/ppt/slideLayouts/slideLayout3.xml" Id="Rdabdcc0f5b424700" /><Relationship Type="http://schemas.openxmlformats.org/officeDocument/2006/relationships/slideLayout" Target="/ppt/slideLayouts/slideLayout4.xml" Id="R220096ee2445433a" /><Relationship Type="http://schemas.openxmlformats.org/officeDocument/2006/relationships/slideLayout" Target="/ppt/slideLayouts/slideLayout5.xml" Id="R94c03939d5984f92" /><Relationship Type="http://schemas.openxmlformats.org/officeDocument/2006/relationships/slideLayout" Target="/ppt/slideLayouts/slideLayout6.xml" Id="R070eba27fa224a8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adc184105e54add"/>
    <p:sldLayoutId xmlns:r="http://schemas.openxmlformats.org/officeDocument/2006/relationships" id="2147483650" r:id="R7170948c5563448e"/>
    <p:sldLayoutId xmlns:r="http://schemas.openxmlformats.org/officeDocument/2006/relationships" id="2147483651" r:id="Rdabdcc0f5b424700"/>
    <p:sldLayoutId xmlns:r="http://schemas.openxmlformats.org/officeDocument/2006/relationships" id="2147483652" r:id="R220096ee2445433a"/>
    <p:sldLayoutId xmlns:r="http://schemas.openxmlformats.org/officeDocument/2006/relationships" id="2147483653" r:id="R94c03939d5984f92"/>
    <p:sldLayoutId xmlns:r="http://schemas.openxmlformats.org/officeDocument/2006/relationships" id="2147483654" r:id="R070eba27fa224a8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0312d43bf6b46c7" /><Relationship Type="http://schemas.openxmlformats.org/officeDocument/2006/relationships/notesSlide" Target="/ppt/notesSlides/notesSlide1.xml" Id="R2d4b45b0cd0949e4"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22774115031c48c4" /><Relationship Type="http://schemas.openxmlformats.org/officeDocument/2006/relationships/notesSlide" Target="/ppt/notesSlides/notesSlide2.xml" Id="Ra345a53db2c94ffc"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41d3ee61c25b45fe" /><Relationship Type="http://schemas.openxmlformats.org/officeDocument/2006/relationships/notesSlide" Target="/ppt/notesSlides/notesSlide3.xml" Id="Rc2a9a5202d584eab"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3762cd72aaf048aa" /><Relationship Type="http://schemas.openxmlformats.org/officeDocument/2006/relationships/notesSlide" Target="/ppt/notesSlides/notesSlide4.xml" Id="R7630a347594b42fb"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1386b38c7c834402" /><Relationship Type="http://schemas.openxmlformats.org/officeDocument/2006/relationships/notesSlide" Target="/ppt/notesSlides/notesSlide5.xml" Id="R509c593b238b42ed"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fcadc29967114f22" /><Relationship Type="http://schemas.openxmlformats.org/officeDocument/2006/relationships/notesSlide" Target="/ppt/notesSlides/notesSlide6.xml" Id="R822e1b7f77284168"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c6dc0b210bf5403a" /><Relationship Type="http://schemas.openxmlformats.org/officeDocument/2006/relationships/notesSlide" Target="/ppt/notesSlides/notesSlide7.xml" Id="Rcbec86f3ffdc4806"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6819e2b3c1414c4b" /><Relationship Type="http://schemas.openxmlformats.org/officeDocument/2006/relationships/notesSlide" Target="/ppt/notesSlides/notesSlide8.xml" Id="R61089f2e1ff04ea5"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2652c929af444c38" /><Relationship Type="http://schemas.openxmlformats.org/officeDocument/2006/relationships/notesSlide" Target="/ppt/notesSlides/notesSlide9.xml" Id="Rccd621e7d36044a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606b5f7407cf4799" /><Relationship Type="http://schemas.openxmlformats.org/officeDocument/2006/relationships/notesSlide" Target="/ppt/notesSlides/notesSlide10.xml" Id="R6f60d7efe9ac43b0" /></Relationships>
</file>

<file path=ppt/slides/slide1.xml><?xml version="1.0" encoding="utf-8"?>
<p:sld xmlns:p="http://schemas.openxmlformats.org/presentationml/2006/main">
  <p:cSld>
    <p:bg>
      <p:bgPr>
        <a:solidFill xmlns:a="http://schemas.openxmlformats.org/drawingml/2006/main">
          <a:srgbClr val="102A43"/>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107A1D7-4ECA-405E-B854-673AC06CF9BE}"/>
              </a:ext>
            </a:extLst>
          </p:cNvPr>
          <p:cNvSpPr>
            <a:spLocks xmlns:a="http://schemas.openxmlformats.org/drawingml/2006/main" noGrp="1"/>
          </p:cNvSpPr>
          <p:nvPr/>
        </p:nvSpPr>
        <p:spPr>
          <a:xfrm xmlns:a="http://schemas.openxmlformats.org/drawingml/2006/main">
            <a:off x="685800" y="6334125"/>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DCEBFF"/>
                </a:solidFill>
                <a:latin typeface="Arial"/>
                <a:ea typeface="Arial"/>
                <a:cs typeface="Arial"/>
              </a:defRPr>
            </a:defPPr>
          </a:lstStyle>
          <a:p xmlns:a="http://schemas.openxmlformats.org/drawingml/2006/main">
            <a:pPr>
              <a:defRPr sz="1200" b="0">
                <a:solidFill>
                  <a:srgbClr val="DCEBFF"/>
                </a:solidFill>
                <a:latin typeface="Arial"/>
                <a:ea typeface="Arial"/>
                <a:cs typeface="Arial"/>
              </a:defRPr>
            </a:pPr>
            <a:r>
              <a:rPr sz="1200" b="0">
                <a:solidFill>
                  <a:srgbClr val="DCEBFF"/>
                </a:solidFill>
                <a:latin typeface="Arial"/>
                <a:ea typeface="Arial"/>
                <a:cs typeface="Arial"/>
              </a:rPr>
              <a:t>ScamCatch  /  Application draft  /  October 8, 2026</a:t>
            </a:r>
          </a:p>
        </p:txBody>
      </p:sp>
      <p:sp>
        <p:nvSpPr>
          <p:cNvPr id="2" name="">
            <a:extLst xmlns:a="http://schemas.openxmlformats.org/drawingml/2006/main">
              <a:ext uri="{FF2B5EF4-FFF2-40B4-BE49-F238E27FC236}">
                <a16:creationId xmlns:a16="http://schemas.microsoft.com/office/drawing/2014/main" id="{0F2B44B7-FF84-47DA-A39C-A229C5E8D91F}"/>
              </a:ext>
            </a:extLst>
          </p:cNvPr>
          <p:cNvSpPr>
            <a:spLocks xmlns:a="http://schemas.openxmlformats.org/drawingml/2006/main" noGrp="1"/>
          </p:cNvSpPr>
          <p:nvPr/>
        </p:nvSpPr>
        <p:spPr>
          <a:xfrm xmlns:a="http://schemas.openxmlformats.org/drawingml/2006/main">
            <a:off x="11049000" y="6315075"/>
            <a:ext cx="428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DCEBFF"/>
                </a:solidFill>
                <a:latin typeface="Arial"/>
                <a:ea typeface="Arial"/>
                <a:cs typeface="Arial"/>
              </a:defRPr>
            </a:defPPr>
          </a:lstStyle>
          <a:p xmlns:a="http://schemas.openxmlformats.org/drawingml/2006/main">
            <a:pPr>
              <a:defRPr sz="1275" b="0">
                <a:solidFill>
                  <a:srgbClr val="DCEBFF"/>
                </a:solidFill>
                <a:latin typeface="Arial"/>
                <a:ea typeface="Arial"/>
                <a:cs typeface="Arial"/>
              </a:defRPr>
            </a:pPr>
            <a:r>
              <a:rPr sz="1275" b="0">
                <a:solidFill>
                  <a:srgbClr val="DCEBFF"/>
                </a:solidFill>
                <a:latin typeface="Arial"/>
                <a:ea typeface="Arial"/>
                <a:cs typeface="Arial"/>
              </a:rPr>
              <a:t>01</a:t>
            </a:r>
          </a:p>
        </p:txBody>
      </p:sp>
      <p:sp>
        <p:nvSpPr>
          <p:cNvPr id="3" name="">
            <a:extLst xmlns:a="http://schemas.openxmlformats.org/drawingml/2006/main">
              <a:ext uri="{FF2B5EF4-FFF2-40B4-BE49-F238E27FC236}">
                <a16:creationId xmlns:a16="http://schemas.microsoft.com/office/drawing/2014/main" id="{9505895B-745B-4BFE-A479-81A3181AB9FB}"/>
              </a:ext>
            </a:extLst>
          </p:cNvPr>
          <p:cNvSpPr>
            <a:spLocks xmlns:a="http://schemas.openxmlformats.org/drawingml/2006/main" noGrp="1"/>
          </p:cNvSpPr>
          <p:nvPr/>
        </p:nvSpPr>
        <p:spPr>
          <a:xfrm xmlns:a="http://schemas.openxmlformats.org/drawingml/2006/main">
            <a:off x="685800" y="1104900"/>
            <a:ext cx="103822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6600" b="1">
                <a:solidFill>
                  <a:srgbClr val="FFFFFF"/>
                </a:solidFill>
                <a:latin typeface="Arial"/>
                <a:ea typeface="Arial"/>
                <a:cs typeface="Arial"/>
              </a:defRPr>
            </a:defPPr>
          </a:lstStyle>
          <a:p xmlns:a="http://schemas.openxmlformats.org/drawingml/2006/main">
            <a:pPr>
              <a:defRPr sz="6600" b="1">
                <a:solidFill>
                  <a:srgbClr val="FFFFFF"/>
                </a:solidFill>
                <a:latin typeface="Arial"/>
                <a:ea typeface="Arial"/>
                <a:cs typeface="Arial"/>
              </a:defRPr>
            </a:pPr>
            <a:r>
              <a:rPr sz="6600" b="1">
                <a:solidFill>
                  <a:srgbClr val="FFFFFF"/>
                </a:solidFill>
                <a:latin typeface="Arial"/>
                <a:ea typeface="Arial"/>
                <a:cs typeface="Arial"/>
              </a:rPr>
              <a:t>ScamCatch</a:t>
            </a:r>
          </a:p>
        </p:txBody>
      </p:sp>
      <p:sp>
        <p:nvSpPr>
          <p:cNvPr id="4" name="">
            <a:extLst xmlns:a="http://schemas.openxmlformats.org/drawingml/2006/main">
              <a:ext uri="{FF2B5EF4-FFF2-40B4-BE49-F238E27FC236}">
                <a16:creationId xmlns:a16="http://schemas.microsoft.com/office/drawing/2014/main" id="{43A2DC7D-CFCA-4BC9-9A92-10EFD932C8B4}"/>
              </a:ext>
            </a:extLst>
          </p:cNvPr>
          <p:cNvSpPr>
            <a:spLocks xmlns:a="http://schemas.openxmlformats.org/drawingml/2006/main" noGrp="1"/>
          </p:cNvSpPr>
          <p:nvPr/>
        </p:nvSpPr>
        <p:spPr>
          <a:xfrm xmlns:a="http://schemas.openxmlformats.org/drawingml/2006/main">
            <a:off x="723900" y="2476500"/>
            <a:ext cx="10572750" cy="1323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0">
                <a:solidFill>
                  <a:srgbClr val="DCEBFF"/>
                </a:solidFill>
                <a:latin typeface="Arial"/>
                <a:ea typeface="Arial"/>
                <a:cs typeface="Arial"/>
              </a:defRPr>
            </a:defPPr>
          </a:lstStyle>
          <a:p xmlns:a="http://schemas.openxmlformats.org/drawingml/2006/main">
            <a:pPr>
              <a:defRPr sz="3375" b="0">
                <a:solidFill>
                  <a:srgbClr val="DCEBFF"/>
                </a:solidFill>
                <a:latin typeface="Arial"/>
                <a:ea typeface="Arial"/>
                <a:cs typeface="Arial"/>
              </a:defRPr>
            </a:pPr>
            <a:r>
              <a:rPr sz="3375" b="0">
                <a:solidFill>
                  <a:srgbClr val="DCEBFF"/>
                </a:solidFill>
                <a:latin typeface="Arial"/>
                <a:ea typeface="Arial"/>
                <a:cs typeface="Arial"/>
              </a:rPr>
              <a:t>A voice conversation when</a:t>
            </a:r>
          </a:p>
          <a:p xmlns:a="http://schemas.openxmlformats.org/drawingml/2006/main">
            <a:pPr>
              <a:defRPr sz="3375" b="0">
                <a:solidFill>
                  <a:srgbClr val="DCEBFF"/>
                </a:solidFill>
                <a:latin typeface="Arial"/>
                <a:ea typeface="Arial"/>
                <a:cs typeface="Arial"/>
              </a:defRPr>
            </a:pPr>
            <a:r>
              <a:rPr sz="3375" b="0">
                <a:solidFill>
                  <a:srgbClr val="DCEBFF"/>
                </a:solidFill>
                <a:latin typeface="Arial"/>
                <a:ea typeface="Arial"/>
                <a:cs typeface="Arial"/>
              </a:rPr>
              <a:t>someone may be facing a scam</a:t>
            </a:r>
          </a:p>
        </p:txBody>
      </p:sp>
      <p:sp>
        <p:nvSpPr>
          <p:cNvPr id="5" name="">
            <a:extLst xmlns:a="http://schemas.openxmlformats.org/drawingml/2006/main">
              <a:ext uri="{FF2B5EF4-FFF2-40B4-BE49-F238E27FC236}">
                <a16:creationId xmlns:a16="http://schemas.microsoft.com/office/drawing/2014/main" id="{70342AAE-DCA0-4323-9802-A71DF2CE41A6}"/>
              </a:ext>
            </a:extLst>
          </p:cNvPr>
          <p:cNvSpPr>
            <a:spLocks xmlns:a="http://schemas.openxmlformats.org/drawingml/2006/main" noGrp="1"/>
          </p:cNvSpPr>
          <p:nvPr/>
        </p:nvSpPr>
        <p:spPr>
          <a:xfrm xmlns:a="http://schemas.openxmlformats.org/drawingml/2006/main">
            <a:off x="723900" y="4371975"/>
            <a:ext cx="9715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FFFFFF"/>
                </a:solidFill>
                <a:latin typeface="Arial"/>
                <a:ea typeface="Arial"/>
                <a:cs typeface="Arial"/>
              </a:defRPr>
            </a:defPPr>
          </a:lstStyle>
          <a:p xmlns:a="http://schemas.openxmlformats.org/drawingml/2006/main">
            <a:pPr>
              <a:defRPr sz="2100" b="0">
                <a:solidFill>
                  <a:srgbClr val="FFFFFF"/>
                </a:solidFill>
                <a:latin typeface="Arial"/>
                <a:ea typeface="Arial"/>
                <a:cs typeface="Arial"/>
              </a:defRPr>
            </a:pPr>
            <a:r>
              <a:rPr sz="2100" b="0">
                <a:solidFill>
                  <a:srgbClr val="FFFFFF"/>
                </a:solidFill>
                <a:latin typeface="Arial"/>
                <a:ea typeface="Arial"/>
                <a:cs typeface="Arial"/>
              </a:rPr>
              <a:t>A product of Mirae Opus LLC</a:t>
            </a:r>
          </a:p>
        </p:txBody>
      </p:sp>
      <p:sp>
        <p:nvSpPr>
          <p:cNvPr id="6" name="">
            <a:extLst xmlns:a="http://schemas.openxmlformats.org/drawingml/2006/main">
              <a:ext uri="{FF2B5EF4-FFF2-40B4-BE49-F238E27FC236}">
                <a16:creationId xmlns:a16="http://schemas.microsoft.com/office/drawing/2014/main" id="{FE6D35FA-D601-452F-AA53-64C58E088155}"/>
              </a:ext>
            </a:extLst>
          </p:cNvPr>
          <p:cNvSpPr>
            <a:spLocks xmlns:a="http://schemas.openxmlformats.org/drawingml/2006/main" noGrp="1"/>
          </p:cNvSpPr>
          <p:nvPr/>
        </p:nvSpPr>
        <p:spPr>
          <a:xfrm xmlns:a="http://schemas.openxmlformats.org/drawingml/2006/main">
            <a:off x="723900" y="4857750"/>
            <a:ext cx="9715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DCEBFF"/>
                </a:solidFill>
                <a:latin typeface="Arial"/>
                <a:ea typeface="Arial"/>
                <a:cs typeface="Arial"/>
              </a:defRPr>
            </a:defPPr>
          </a:lstStyle>
          <a:p xmlns:a="http://schemas.openxmlformats.org/drawingml/2006/main">
            <a:pPr>
              <a:defRPr sz="1875" b="0">
                <a:solidFill>
                  <a:srgbClr val="DCEBFF"/>
                </a:solidFill>
                <a:latin typeface="Arial"/>
                <a:ea typeface="Arial"/>
                <a:cs typeface="Arial"/>
              </a:defRPr>
            </a:pPr>
            <a:r>
              <a:rPr sz="1875" b="0">
                <a:solidFill>
                  <a:srgbClr val="DCEBFF"/>
                </a:solidFill>
                <a:latin typeface="Arial"/>
                <a:ea typeface="Arial"/>
                <a:cs typeface="Arial"/>
              </a:rPr>
              <a:t>Jonathan Kim, Founder</a:t>
            </a:r>
          </a:p>
        </p:txBody>
      </p:sp>
      <p:sp>
        <p:nvSpPr>
          <p:cNvPr id="7" name="">
            <a:extLst xmlns:a="http://schemas.openxmlformats.org/drawingml/2006/main">
              <a:ext uri="{FF2B5EF4-FFF2-40B4-BE49-F238E27FC236}">
                <a16:creationId xmlns:a16="http://schemas.microsoft.com/office/drawing/2014/main" id="{ABE18348-BFF1-4CEB-82BD-5FC58CB037FA}"/>
              </a:ext>
            </a:extLst>
          </p:cNvPr>
          <p:cNvSpPr>
            <a:spLocks xmlns:a="http://schemas.openxmlformats.org/drawingml/2006/main" noGrp="1"/>
          </p:cNvSpPr>
          <p:nvPr/>
        </p:nvSpPr>
        <p:spPr>
          <a:xfrm xmlns:a="http://schemas.openxmlformats.org/drawingml/2006/main">
            <a:off x="723900" y="5486400"/>
            <a:ext cx="9906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DCEBFF"/>
                </a:solidFill>
                <a:latin typeface="Arial"/>
                <a:ea typeface="Arial"/>
                <a:cs typeface="Arial"/>
              </a:defRPr>
            </a:defPPr>
          </a:lstStyle>
          <a:p xmlns:a="http://schemas.openxmlformats.org/drawingml/2006/main">
            <a:pPr>
              <a:defRPr sz="1575" b="0">
                <a:solidFill>
                  <a:srgbClr val="DCEBFF"/>
                </a:solidFill>
                <a:latin typeface="Arial"/>
                <a:ea typeface="Arial"/>
                <a:cs typeface="Arial"/>
              </a:defRPr>
            </a:pPr>
            <a:r>
              <a:rPr sz="1575" b="0">
                <a:solidFill>
                  <a:srgbClr val="DCEBFF"/>
                </a:solidFill>
                <a:latin typeface="Arial"/>
                <a:ea typeface="Arial"/>
                <a:cs typeface="Arial"/>
              </a:rPr>
              <a:t>Development prototype. scamcatch.io</a:t>
            </a:r>
          </a:p>
        </p:txBody>
      </p:sp>
    </p:spTree>
    <p:extLst>
      <p:ext uri="{BB962C8B-B14F-4D97-AF65-F5344CB8AC3E}">
        <p14:creationId xmlns:p14="http://schemas.microsoft.com/office/powerpoint/2010/main" val="2103573685"/>
      </p:ext>
    </p:extLst>
  </p:cSld>
</p:sld>
</file>

<file path=ppt/slides/slide2.xml><?xml version="1.0" encoding="utf-8"?>
<p:sld xmlns:p="http://schemas.openxmlformats.org/presentationml/2006/main">
  <p:cSld>
    <p:bg>
      <p:bgPr>
        <a:solidFill xmlns:a="http://schemas.openxmlformats.org/drawingml/2006/main">
          <a:srgbClr val="FAFC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3ABE029-3934-49A4-9BCF-0A8913F3BC0C}"/>
              </a:ext>
            </a:extLst>
          </p:cNvPr>
          <p:cNvSpPr>
            <a:spLocks xmlns:a="http://schemas.openxmlformats.org/drawingml/2006/main" noGrp="1"/>
          </p:cNvSpPr>
          <p:nvPr/>
        </p:nvSpPr>
        <p:spPr>
          <a:xfrm xmlns:a="http://schemas.openxmlformats.org/drawingml/2006/main">
            <a:off x="685800" y="523875"/>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02A43"/>
                </a:solidFill>
                <a:latin typeface="Arial"/>
                <a:ea typeface="Arial"/>
                <a:cs typeface="Arial"/>
              </a:defRPr>
            </a:defPPr>
          </a:lstStyle>
          <a:p xmlns:a="http://schemas.openxmlformats.org/drawingml/2006/main">
            <a:pPr>
              <a:defRPr sz="3450" b="1">
                <a:solidFill>
                  <a:srgbClr val="102A43"/>
                </a:solidFill>
                <a:latin typeface="Arial"/>
                <a:ea typeface="Arial"/>
                <a:cs typeface="Arial"/>
              </a:defRPr>
            </a:pPr>
            <a:r>
              <a:rPr sz="3450" b="1">
                <a:solidFill>
                  <a:srgbClr val="102A43"/>
                </a:solidFill>
                <a:latin typeface="Arial"/>
                <a:ea typeface="Arial"/>
                <a:cs typeface="Arial"/>
              </a:rPr>
              <a:t>The cost of a missed pause</a:t>
            </a:r>
          </a:p>
        </p:txBody>
      </p:sp>
      <p:sp>
        <p:nvSpPr>
          <p:cNvPr id="2" name="">
            <a:extLst xmlns:a="http://schemas.openxmlformats.org/drawingml/2006/main">
              <a:ext uri="{FF2B5EF4-FFF2-40B4-BE49-F238E27FC236}">
                <a16:creationId xmlns:a16="http://schemas.microsoft.com/office/drawing/2014/main" id="{FCC1FAAB-FB4A-47AD-B1EF-43FD2B353B21}"/>
              </a:ext>
            </a:extLst>
          </p:cNvPr>
          <p:cNvSpPr>
            <a:spLocks xmlns:a="http://schemas.openxmlformats.org/drawingml/2006/main" noGrp="1"/>
          </p:cNvSpPr>
          <p:nvPr/>
        </p:nvSpPr>
        <p:spPr>
          <a:xfrm xmlns:a="http://schemas.openxmlformats.org/drawingml/2006/main">
            <a:off x="685800" y="6334125"/>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87A"/>
                </a:solidFill>
                <a:latin typeface="Arial"/>
                <a:ea typeface="Arial"/>
                <a:cs typeface="Arial"/>
              </a:defRPr>
            </a:defPPr>
          </a:lstStyle>
          <a:p xmlns:a="http://schemas.openxmlformats.org/drawingml/2006/main">
            <a:pPr>
              <a:defRPr sz="1200" b="0">
                <a:solidFill>
                  <a:srgbClr val="52687A"/>
                </a:solidFill>
                <a:latin typeface="Arial"/>
                <a:ea typeface="Arial"/>
                <a:cs typeface="Arial"/>
              </a:defRPr>
            </a:pPr>
            <a:r>
              <a:rPr sz="1200" b="0">
                <a:solidFill>
                  <a:srgbClr val="52687A"/>
                </a:solidFill>
                <a:latin typeface="Arial"/>
                <a:ea typeface="Arial"/>
                <a:cs typeface="Arial"/>
              </a:rPr>
              <a:t>ScamCatch  /  Application draft  /  October 8, 2026</a:t>
            </a:r>
          </a:p>
        </p:txBody>
      </p:sp>
      <p:sp>
        <p:nvSpPr>
          <p:cNvPr id="3" name="">
            <a:extLst xmlns:a="http://schemas.openxmlformats.org/drawingml/2006/main">
              <a:ext uri="{FF2B5EF4-FFF2-40B4-BE49-F238E27FC236}">
                <a16:creationId xmlns:a16="http://schemas.microsoft.com/office/drawing/2014/main" id="{48B1A87E-549F-48FF-ACB0-7F4715AE7371}"/>
              </a:ext>
            </a:extLst>
          </p:cNvPr>
          <p:cNvSpPr>
            <a:spLocks xmlns:a="http://schemas.openxmlformats.org/drawingml/2006/main" noGrp="1"/>
          </p:cNvSpPr>
          <p:nvPr/>
        </p:nvSpPr>
        <p:spPr>
          <a:xfrm xmlns:a="http://schemas.openxmlformats.org/drawingml/2006/main">
            <a:off x="11049000" y="6315075"/>
            <a:ext cx="428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87A"/>
                </a:solidFill>
                <a:latin typeface="Arial"/>
                <a:ea typeface="Arial"/>
                <a:cs typeface="Arial"/>
              </a:defRPr>
            </a:defPPr>
          </a:lstStyle>
          <a:p xmlns:a="http://schemas.openxmlformats.org/drawingml/2006/main">
            <a:pPr>
              <a:defRPr sz="1275" b="0">
                <a:solidFill>
                  <a:srgbClr val="52687A"/>
                </a:solidFill>
                <a:latin typeface="Arial"/>
                <a:ea typeface="Arial"/>
                <a:cs typeface="Arial"/>
              </a:defRPr>
            </a:pPr>
            <a:r>
              <a:rPr sz="1275" b="0">
                <a:solidFill>
                  <a:srgbClr val="52687A"/>
                </a:solidFill>
                <a:latin typeface="Arial"/>
                <a:ea typeface="Arial"/>
                <a:cs typeface="Arial"/>
              </a:rPr>
              <a:t>02</a:t>
            </a:r>
          </a:p>
        </p:txBody>
      </p:sp>
      <p:sp>
        <p:nvSpPr>
          <p:cNvPr id="4" name="">
            <a:extLst xmlns:a="http://schemas.openxmlformats.org/drawingml/2006/main">
              <a:ext uri="{FF2B5EF4-FFF2-40B4-BE49-F238E27FC236}">
                <a16:creationId xmlns:a16="http://schemas.microsoft.com/office/drawing/2014/main" id="{C19D752B-C526-4151-BCC1-476BE4C9F79C}"/>
              </a:ext>
            </a:extLst>
          </p:cNvPr>
          <p:cNvSpPr>
            <a:spLocks xmlns:a="http://schemas.openxmlformats.org/drawingml/2006/main" noGrp="1"/>
          </p:cNvSpPr>
          <p:nvPr/>
        </p:nvSpPr>
        <p:spPr>
          <a:xfrm xmlns:a="http://schemas.openxmlformats.org/drawingml/2006/main">
            <a:off x="685800" y="1619250"/>
            <a:ext cx="5238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8550" b="1">
                <a:solidFill>
                  <a:srgbClr val="2563EB"/>
                </a:solidFill>
                <a:latin typeface="Arial"/>
                <a:ea typeface="Arial"/>
                <a:cs typeface="Arial"/>
              </a:defRPr>
            </a:defPPr>
          </a:lstStyle>
          <a:p xmlns:a="http://schemas.openxmlformats.org/drawingml/2006/main">
            <a:pPr>
              <a:defRPr sz="8550" b="1">
                <a:solidFill>
                  <a:srgbClr val="2563EB"/>
                </a:solidFill>
                <a:latin typeface="Arial"/>
                <a:ea typeface="Arial"/>
                <a:cs typeface="Arial"/>
              </a:defRPr>
            </a:pPr>
            <a:r>
              <a:rPr sz="8550" b="1">
                <a:solidFill>
                  <a:srgbClr val="2563EB"/>
                </a:solidFill>
                <a:latin typeface="Arial"/>
                <a:ea typeface="Arial"/>
                <a:cs typeface="Arial"/>
              </a:rPr>
              <a:t>$2.4B</a:t>
            </a:r>
          </a:p>
        </p:txBody>
      </p:sp>
      <p:sp>
        <p:nvSpPr>
          <p:cNvPr id="5" name="">
            <a:extLst xmlns:a="http://schemas.openxmlformats.org/drawingml/2006/main">
              <a:ext uri="{FF2B5EF4-FFF2-40B4-BE49-F238E27FC236}">
                <a16:creationId xmlns:a16="http://schemas.microsoft.com/office/drawing/2014/main" id="{EFB5504B-443F-42A8-AFD2-527345C30D48}"/>
              </a:ext>
            </a:extLst>
          </p:cNvPr>
          <p:cNvSpPr>
            <a:spLocks xmlns:a="http://schemas.openxmlformats.org/drawingml/2006/main" noGrp="1"/>
          </p:cNvSpPr>
          <p:nvPr/>
        </p:nvSpPr>
        <p:spPr>
          <a:xfrm xmlns:a="http://schemas.openxmlformats.org/drawingml/2006/main">
            <a:off x="742950" y="3143250"/>
            <a:ext cx="5429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02A43"/>
                </a:solidFill>
                <a:latin typeface="Arial"/>
                <a:ea typeface="Arial"/>
                <a:cs typeface="Arial"/>
              </a:defRPr>
            </a:defPPr>
          </a:lstStyle>
          <a:p xmlns:a="http://schemas.openxmlformats.org/drawingml/2006/main">
            <a:pPr>
              <a:defRPr sz="2325" b="0">
                <a:solidFill>
                  <a:srgbClr val="102A43"/>
                </a:solidFill>
                <a:latin typeface="Arial"/>
                <a:ea typeface="Arial"/>
                <a:cs typeface="Arial"/>
              </a:defRPr>
            </a:pPr>
            <a:r>
              <a:rPr sz="2325" b="0">
                <a:solidFill>
                  <a:srgbClr val="102A43"/>
                </a:solidFill>
                <a:latin typeface="Arial"/>
                <a:ea typeface="Arial"/>
                <a:cs typeface="Arial"/>
              </a:rPr>
              <a:t>Fraud losses reported by</a:t>
            </a:r>
          </a:p>
          <a:p xmlns:a="http://schemas.openxmlformats.org/drawingml/2006/main">
            <a:pPr>
              <a:defRPr sz="2325" b="0">
                <a:solidFill>
                  <a:srgbClr val="102A43"/>
                </a:solidFill>
                <a:latin typeface="Arial"/>
                <a:ea typeface="Arial"/>
                <a:cs typeface="Arial"/>
              </a:defRPr>
            </a:pPr>
            <a:r>
              <a:rPr sz="2325" b="0">
                <a:solidFill>
                  <a:srgbClr val="102A43"/>
                </a:solidFill>
                <a:latin typeface="Arial"/>
                <a:ea typeface="Arial"/>
                <a:cs typeface="Arial"/>
              </a:rPr>
              <a:t>US adults age 60+ in 2024</a:t>
            </a:r>
          </a:p>
        </p:txBody>
      </p:sp>
      <p:sp>
        <p:nvSpPr>
          <p:cNvPr id="6" name="">
            <a:extLst xmlns:a="http://schemas.openxmlformats.org/drawingml/2006/main">
              <a:ext uri="{FF2B5EF4-FFF2-40B4-BE49-F238E27FC236}">
                <a16:creationId xmlns:a16="http://schemas.microsoft.com/office/drawing/2014/main" id="{08B4FBA2-F280-4391-BDFE-4506B1510DDF}"/>
              </a:ext>
            </a:extLst>
          </p:cNvPr>
          <p:cNvSpPr>
            <a:spLocks xmlns:a="http://schemas.openxmlformats.org/drawingml/2006/main" noGrp="1"/>
          </p:cNvSpPr>
          <p:nvPr/>
        </p:nvSpPr>
        <p:spPr>
          <a:xfrm xmlns:a="http://schemas.openxmlformats.org/drawingml/2006/main">
            <a:off x="742950" y="4219575"/>
            <a:ext cx="5334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52687A"/>
                </a:solidFill>
                <a:latin typeface="Arial"/>
                <a:ea typeface="Arial"/>
                <a:cs typeface="Arial"/>
              </a:defRPr>
            </a:defPPr>
          </a:lstStyle>
          <a:p xmlns:a="http://schemas.openxmlformats.org/drawingml/2006/main">
            <a:pPr>
              <a:defRPr sz="2100" b="0">
                <a:solidFill>
                  <a:srgbClr val="52687A"/>
                </a:solidFill>
                <a:latin typeface="Arial"/>
                <a:ea typeface="Arial"/>
                <a:cs typeface="Arial"/>
              </a:defRPr>
            </a:pPr>
            <a:r>
              <a:rPr sz="2100" b="0">
                <a:solidFill>
                  <a:srgbClr val="52687A"/>
                </a:solidFill>
                <a:latin typeface="Arial"/>
                <a:ea typeface="Arial"/>
                <a:cs typeface="Arial"/>
              </a:rPr>
              <a:t>About four times the</a:t>
            </a:r>
          </a:p>
          <a:p xmlns:a="http://schemas.openxmlformats.org/drawingml/2006/main">
            <a:pPr>
              <a:defRPr sz="2100" b="0">
                <a:solidFill>
                  <a:srgbClr val="52687A"/>
                </a:solidFill>
                <a:latin typeface="Arial"/>
                <a:ea typeface="Arial"/>
                <a:cs typeface="Arial"/>
              </a:defRPr>
            </a:pPr>
            <a:r>
              <a:rPr sz="2100" b="0">
                <a:solidFill>
                  <a:srgbClr val="52687A"/>
                </a:solidFill>
                <a:latin typeface="Arial"/>
                <a:ea typeface="Arial"/>
                <a:cs typeface="Arial"/>
              </a:rPr>
              <a:t>reported amount in 2020</a:t>
            </a:r>
          </a:p>
        </p:txBody>
      </p:sp>
      <p:sp>
        <p:nvSpPr>
          <p:cNvPr id="7" name="">
            <a:extLst xmlns:a="http://schemas.openxmlformats.org/drawingml/2006/main">
              <a:ext uri="{FF2B5EF4-FFF2-40B4-BE49-F238E27FC236}">
                <a16:creationId xmlns:a16="http://schemas.microsoft.com/office/drawing/2014/main" id="{083E4BE0-95A4-492A-AF12-7732FED75D18}"/>
              </a:ext>
            </a:extLst>
          </p:cNvPr>
          <p:cNvSpPr>
            <a:spLocks xmlns:a="http://schemas.openxmlformats.org/drawingml/2006/main" noGrp="1"/>
          </p:cNvSpPr>
          <p:nvPr/>
        </p:nvSpPr>
        <p:spPr>
          <a:xfrm xmlns:a="http://schemas.openxmlformats.org/drawingml/2006/main">
            <a:off x="7048500" y="1714500"/>
            <a:ext cx="43815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02A43"/>
                </a:solidFill>
                <a:latin typeface="Arial"/>
                <a:ea typeface="Arial"/>
                <a:cs typeface="Arial"/>
              </a:defRPr>
            </a:defPPr>
          </a:lstStyle>
          <a:p xmlns:a="http://schemas.openxmlformats.org/drawingml/2006/main">
            <a:pPr>
              <a:defRPr sz="2400" b="1">
                <a:solidFill>
                  <a:srgbClr val="102A43"/>
                </a:solidFill>
                <a:latin typeface="Arial"/>
                <a:ea typeface="Arial"/>
                <a:cs typeface="Arial"/>
              </a:defRPr>
            </a:pPr>
            <a:r>
              <a:rPr sz="2400" b="1">
                <a:solidFill>
                  <a:srgbClr val="102A43"/>
                </a:solidFill>
                <a:latin typeface="Arial"/>
                <a:ea typeface="Arial"/>
                <a:cs typeface="Arial"/>
              </a:rPr>
              <a:t>Our hypothesis</a:t>
            </a:r>
          </a:p>
        </p:txBody>
      </p:sp>
      <p:sp>
        <p:nvSpPr>
          <p:cNvPr id="8" name="">
            <a:extLst xmlns:a="http://schemas.openxmlformats.org/drawingml/2006/main">
              <a:ext uri="{FF2B5EF4-FFF2-40B4-BE49-F238E27FC236}">
                <a16:creationId xmlns:a16="http://schemas.microsoft.com/office/drawing/2014/main" id="{A7F3495F-F59E-4629-8275-7DA6B201B3A2}"/>
              </a:ext>
            </a:extLst>
          </p:cNvPr>
          <p:cNvSpPr>
            <a:spLocks xmlns:a="http://schemas.openxmlformats.org/drawingml/2006/main" noGrp="1"/>
          </p:cNvSpPr>
          <p:nvPr/>
        </p:nvSpPr>
        <p:spPr>
          <a:xfrm xmlns:a="http://schemas.openxmlformats.org/drawingml/2006/main">
            <a:off x="7048500" y="2457450"/>
            <a:ext cx="4238625" cy="1771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02A43"/>
                </a:solidFill>
                <a:latin typeface="Arial"/>
                <a:ea typeface="Arial"/>
                <a:cs typeface="Arial"/>
              </a:defRPr>
            </a:defPPr>
          </a:lstStyle>
          <a:p xmlns:a="http://schemas.openxmlformats.org/drawingml/2006/main">
            <a:pPr>
              <a:defRPr sz="2325" b="0">
                <a:solidFill>
                  <a:srgbClr val="102A43"/>
                </a:solidFill>
                <a:latin typeface="Arial"/>
                <a:ea typeface="Arial"/>
                <a:cs typeface="Arial"/>
              </a:defRPr>
            </a:pPr>
            <a:r>
              <a:rPr sz="2325" b="0">
                <a:solidFill>
                  <a:srgbClr val="102A43"/>
                </a:solidFill>
                <a:latin typeface="Arial"/>
                <a:ea typeface="Arial"/>
                <a:cs typeface="Arial"/>
              </a:rPr>
              <a:t>A calm voice conversation could help someone pause and verify a request before sending money.</a:t>
            </a:r>
          </a:p>
        </p:txBody>
      </p:sp>
      <p:sp>
        <p:nvSpPr>
          <p:cNvPr id="9" name="">
            <a:extLst xmlns:a="http://schemas.openxmlformats.org/drawingml/2006/main">
              <a:ext uri="{FF2B5EF4-FFF2-40B4-BE49-F238E27FC236}">
                <a16:creationId xmlns:a16="http://schemas.microsoft.com/office/drawing/2014/main" id="{6291883D-EF91-47BB-B4CD-5FCAF29DE4C0}"/>
              </a:ext>
            </a:extLst>
          </p:cNvPr>
          <p:cNvSpPr>
            <a:spLocks xmlns:a="http://schemas.openxmlformats.org/drawingml/2006/main" noGrp="1"/>
          </p:cNvSpPr>
          <p:nvPr/>
        </p:nvSpPr>
        <p:spPr>
          <a:xfrm xmlns:a="http://schemas.openxmlformats.org/drawingml/2006/main">
            <a:off x="7048500" y="4476750"/>
            <a:ext cx="423862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2687A"/>
                </a:solidFill>
                <a:latin typeface="Arial"/>
                <a:ea typeface="Arial"/>
                <a:cs typeface="Arial"/>
              </a:defRPr>
            </a:defPPr>
          </a:lstStyle>
          <a:p xmlns:a="http://schemas.openxmlformats.org/drawingml/2006/main">
            <a:pPr>
              <a:defRPr sz="1875" b="0">
                <a:solidFill>
                  <a:srgbClr val="52687A"/>
                </a:solidFill>
                <a:latin typeface="Arial"/>
                <a:ea typeface="Arial"/>
                <a:cs typeface="Arial"/>
              </a:defRPr>
            </a:pPr>
            <a:r>
              <a:rPr sz="1875" b="0">
                <a:solidFill>
                  <a:srgbClr val="52687A"/>
                </a:solidFill>
                <a:latin typeface="Arial"/>
                <a:ea typeface="Arial"/>
                <a:cs typeface="Arial"/>
              </a:rPr>
              <a:t>We need to measure whether that changes outcomes.</a:t>
            </a:r>
          </a:p>
        </p:txBody>
      </p:sp>
      <p:sp>
        <p:nvSpPr>
          <p:cNvPr id="10" name="">
            <a:extLst xmlns:a="http://schemas.openxmlformats.org/drawingml/2006/main">
              <a:ext uri="{FF2B5EF4-FFF2-40B4-BE49-F238E27FC236}">
                <a16:creationId xmlns:a16="http://schemas.microsoft.com/office/drawing/2014/main" id="{EBAC0420-D047-45BF-8D61-3E999B6915B6}"/>
              </a:ext>
            </a:extLst>
          </p:cNvPr>
          <p:cNvSpPr>
            <a:spLocks xmlns:a="http://schemas.openxmlformats.org/drawingml/2006/main" noGrp="1"/>
          </p:cNvSpPr>
          <p:nvPr/>
        </p:nvSpPr>
        <p:spPr>
          <a:xfrm xmlns:a="http://schemas.openxmlformats.org/drawingml/2006/main">
            <a:off x="742950" y="5743575"/>
            <a:ext cx="10477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2687A"/>
                </a:solidFill>
                <a:latin typeface="Arial"/>
                <a:ea typeface="Arial"/>
                <a:cs typeface="Arial"/>
              </a:defRPr>
            </a:defPPr>
          </a:lstStyle>
          <a:p xmlns:a="http://schemas.openxmlformats.org/drawingml/2006/main">
            <a:pPr>
              <a:defRPr sz="1350" b="0">
                <a:solidFill>
                  <a:srgbClr val="52687A"/>
                </a:solidFill>
                <a:latin typeface="Arial"/>
                <a:ea typeface="Arial"/>
                <a:cs typeface="Arial"/>
              </a:defRPr>
            </a:pPr>
            <a:r>
              <a:rPr sz="1350" b="0">
                <a:solidFill>
                  <a:srgbClr val="52687A"/>
                </a:solidFill>
                <a:latin typeface="Arial"/>
                <a:ea typeface="Arial"/>
                <a:cs typeface="Arial"/>
              </a:rPr>
              <a:t>Source: FTC, Protecting Older Consumers, 2024–2025. Reported losses only.</a:t>
            </a:r>
          </a:p>
        </p:txBody>
      </p:sp>
    </p:spTree>
    <p:extLst>
      <p:ext uri="{BB962C8B-B14F-4D97-AF65-F5344CB8AC3E}">
        <p14:creationId xmlns:p14="http://schemas.microsoft.com/office/powerpoint/2010/main" val="605897697"/>
      </p:ext>
    </p:extLst>
  </p:cSld>
</p:sld>
</file>

<file path=ppt/slides/slide3.xml><?xml version="1.0" encoding="utf-8"?>
<p:sld xmlns:p="http://schemas.openxmlformats.org/presentationml/2006/main">
  <p:cSld>
    <p:bg>
      <p:bgPr>
        <a:solidFill xmlns:a="http://schemas.openxmlformats.org/drawingml/2006/main">
          <a:srgbClr val="FAFC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EBBBD233-AF3C-4AF0-BB77-5D2D6BC69F1C}"/>
              </a:ext>
            </a:extLst>
          </p:cNvPr>
          <p:cNvSpPr>
            <a:spLocks xmlns:a="http://schemas.openxmlformats.org/drawingml/2006/main" noGrp="1"/>
          </p:cNvSpPr>
          <p:nvPr/>
        </p:nvSpPr>
        <p:spPr>
          <a:xfrm xmlns:a="http://schemas.openxmlformats.org/drawingml/2006/main">
            <a:off x="685800" y="523875"/>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02A43"/>
                </a:solidFill>
                <a:latin typeface="Arial"/>
                <a:ea typeface="Arial"/>
                <a:cs typeface="Arial"/>
              </a:defRPr>
            </a:defPPr>
          </a:lstStyle>
          <a:p xmlns:a="http://schemas.openxmlformats.org/drawingml/2006/main">
            <a:pPr>
              <a:defRPr sz="3450" b="1">
                <a:solidFill>
                  <a:srgbClr val="102A43"/>
                </a:solidFill>
                <a:latin typeface="Arial"/>
                <a:ea typeface="Arial"/>
                <a:cs typeface="Arial"/>
              </a:defRPr>
            </a:pPr>
            <a:r>
              <a:rPr sz="3450" b="1">
                <a:solidFill>
                  <a:srgbClr val="102A43"/>
                </a:solidFill>
                <a:latin typeface="Arial"/>
                <a:ea typeface="Arial"/>
                <a:cs typeface="Arial"/>
              </a:rPr>
              <a:t>The proposed intervention</a:t>
            </a:r>
          </a:p>
        </p:txBody>
      </p:sp>
      <p:sp>
        <p:nvSpPr>
          <p:cNvPr id="2" name="">
            <a:extLst xmlns:a="http://schemas.openxmlformats.org/drawingml/2006/main">
              <a:ext uri="{FF2B5EF4-FFF2-40B4-BE49-F238E27FC236}">
                <a16:creationId xmlns:a16="http://schemas.microsoft.com/office/drawing/2014/main" id="{B4C427CE-79FA-484D-B512-31ADBB5B237D}"/>
              </a:ext>
            </a:extLst>
          </p:cNvPr>
          <p:cNvSpPr>
            <a:spLocks xmlns:a="http://schemas.openxmlformats.org/drawingml/2006/main" noGrp="1"/>
          </p:cNvSpPr>
          <p:nvPr/>
        </p:nvSpPr>
        <p:spPr>
          <a:xfrm xmlns:a="http://schemas.openxmlformats.org/drawingml/2006/main">
            <a:off x="685800" y="6334125"/>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87A"/>
                </a:solidFill>
                <a:latin typeface="Arial"/>
                <a:ea typeface="Arial"/>
                <a:cs typeface="Arial"/>
              </a:defRPr>
            </a:defPPr>
          </a:lstStyle>
          <a:p xmlns:a="http://schemas.openxmlformats.org/drawingml/2006/main">
            <a:pPr>
              <a:defRPr sz="1200" b="0">
                <a:solidFill>
                  <a:srgbClr val="52687A"/>
                </a:solidFill>
                <a:latin typeface="Arial"/>
                <a:ea typeface="Arial"/>
                <a:cs typeface="Arial"/>
              </a:defRPr>
            </a:pPr>
            <a:r>
              <a:rPr sz="1200" b="0">
                <a:solidFill>
                  <a:srgbClr val="52687A"/>
                </a:solidFill>
                <a:latin typeface="Arial"/>
                <a:ea typeface="Arial"/>
                <a:cs typeface="Arial"/>
              </a:rPr>
              <a:t>ScamCatch  /  Application draft  /  October 8, 2026</a:t>
            </a:r>
          </a:p>
        </p:txBody>
      </p:sp>
      <p:sp>
        <p:nvSpPr>
          <p:cNvPr id="3" name="">
            <a:extLst xmlns:a="http://schemas.openxmlformats.org/drawingml/2006/main">
              <a:ext uri="{FF2B5EF4-FFF2-40B4-BE49-F238E27FC236}">
                <a16:creationId xmlns:a16="http://schemas.microsoft.com/office/drawing/2014/main" id="{3B8DC88B-3143-4F67-BFCC-924F4CFCC34F}"/>
              </a:ext>
            </a:extLst>
          </p:cNvPr>
          <p:cNvSpPr>
            <a:spLocks xmlns:a="http://schemas.openxmlformats.org/drawingml/2006/main" noGrp="1"/>
          </p:cNvSpPr>
          <p:nvPr/>
        </p:nvSpPr>
        <p:spPr>
          <a:xfrm xmlns:a="http://schemas.openxmlformats.org/drawingml/2006/main">
            <a:off x="11049000" y="6315075"/>
            <a:ext cx="428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87A"/>
                </a:solidFill>
                <a:latin typeface="Arial"/>
                <a:ea typeface="Arial"/>
                <a:cs typeface="Arial"/>
              </a:defRPr>
            </a:defPPr>
          </a:lstStyle>
          <a:p xmlns:a="http://schemas.openxmlformats.org/drawingml/2006/main">
            <a:pPr>
              <a:defRPr sz="1275" b="0">
                <a:solidFill>
                  <a:srgbClr val="52687A"/>
                </a:solidFill>
                <a:latin typeface="Arial"/>
                <a:ea typeface="Arial"/>
                <a:cs typeface="Arial"/>
              </a:defRPr>
            </a:pPr>
            <a:r>
              <a:rPr sz="1275" b="0">
                <a:solidFill>
                  <a:srgbClr val="52687A"/>
                </a:solidFill>
                <a:latin typeface="Arial"/>
                <a:ea typeface="Arial"/>
                <a:cs typeface="Arial"/>
              </a:rPr>
              <a:t>03</a:t>
            </a:r>
          </a:p>
        </p:txBody>
      </p:sp>
      <p:sp>
        <p:nvSpPr>
          <p:cNvPr id="4" name="">
            <a:extLst xmlns:a="http://schemas.openxmlformats.org/drawingml/2006/main">
              <a:ext uri="{FF2B5EF4-FFF2-40B4-BE49-F238E27FC236}">
                <a16:creationId xmlns:a16="http://schemas.microsoft.com/office/drawing/2014/main" id="{4A3A20A8-36BB-47C3-8AA9-39E2A5734DDB}"/>
              </a:ext>
            </a:extLst>
          </p:cNvPr>
          <p:cNvSpPr>
            <a:spLocks xmlns:a="http://schemas.openxmlformats.org/drawingml/2006/main" noGrp="1"/>
          </p:cNvSpPr>
          <p:nvPr/>
        </p:nvSpPr>
        <p:spPr>
          <a:xfrm xmlns:a="http://schemas.openxmlformats.org/drawingml/2006/main">
            <a:off x="685800" y="1533525"/>
            <a:ext cx="619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2563EB"/>
                </a:solidFill>
                <a:latin typeface="Arial"/>
                <a:ea typeface="Arial"/>
                <a:cs typeface="Arial"/>
              </a:defRPr>
            </a:defPPr>
          </a:lstStyle>
          <a:p xmlns:a="http://schemas.openxmlformats.org/drawingml/2006/main">
            <a:pPr>
              <a:defRPr sz="2400" b="1">
                <a:solidFill>
                  <a:srgbClr val="2563EB"/>
                </a:solidFill>
                <a:latin typeface="Arial"/>
                <a:ea typeface="Arial"/>
                <a:cs typeface="Arial"/>
              </a:defRPr>
            </a:pPr>
            <a:r>
              <a:rPr sz="2400" b="1">
                <a:solidFill>
                  <a:srgbClr val="2563EB"/>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123EE55B-757E-4657-B349-16FB90CA31DA}"/>
              </a:ext>
            </a:extLst>
          </p:cNvPr>
          <p:cNvSpPr>
            <a:spLocks xmlns:a="http://schemas.openxmlformats.org/drawingml/2006/main" noGrp="1"/>
          </p:cNvSpPr>
          <p:nvPr/>
        </p:nvSpPr>
        <p:spPr>
          <a:xfrm xmlns:a="http://schemas.openxmlformats.org/drawingml/2006/main">
            <a:off x="1514475" y="1533525"/>
            <a:ext cx="96678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A43"/>
                </a:solidFill>
                <a:latin typeface="Arial"/>
                <a:ea typeface="Arial"/>
                <a:cs typeface="Arial"/>
              </a:defRPr>
            </a:defPPr>
          </a:lstStyle>
          <a:p xmlns:a="http://schemas.openxmlformats.org/drawingml/2006/main">
            <a:pPr>
              <a:defRPr sz="2175" b="1">
                <a:solidFill>
                  <a:srgbClr val="102A43"/>
                </a:solidFill>
                <a:latin typeface="Arial"/>
                <a:ea typeface="Arial"/>
                <a:cs typeface="Arial"/>
              </a:defRPr>
            </a:pPr>
            <a:r>
              <a:rPr sz="2175" b="1">
                <a:solidFill>
                  <a:srgbClr val="102A43"/>
                </a:solidFill>
                <a:latin typeface="Arial"/>
                <a:ea typeface="Arial"/>
                <a:cs typeface="Arial"/>
              </a:rPr>
              <a:t>A bank flags a risky payment attempt</a:t>
            </a:r>
          </a:p>
        </p:txBody>
      </p:sp>
      <p:sp>
        <p:nvSpPr>
          <p:cNvPr id="6" name="">
            <a:extLst xmlns:a="http://schemas.openxmlformats.org/drawingml/2006/main">
              <a:ext uri="{FF2B5EF4-FFF2-40B4-BE49-F238E27FC236}">
                <a16:creationId xmlns:a16="http://schemas.microsoft.com/office/drawing/2014/main" id="{E422D026-758F-4C15-8518-846BB740B806}"/>
              </a:ext>
            </a:extLst>
          </p:cNvPr>
          <p:cNvSpPr>
            <a:spLocks xmlns:a="http://schemas.openxmlformats.org/drawingml/2006/main" noGrp="1"/>
          </p:cNvSpPr>
          <p:nvPr/>
        </p:nvSpPr>
        <p:spPr>
          <a:xfrm xmlns:a="http://schemas.openxmlformats.org/drawingml/2006/main">
            <a:off x="1514475" y="1962150"/>
            <a:ext cx="9667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2687A"/>
                </a:solidFill>
                <a:latin typeface="Arial"/>
                <a:ea typeface="Arial"/>
                <a:cs typeface="Arial"/>
              </a:defRPr>
            </a:defPPr>
          </a:lstStyle>
          <a:p xmlns:a="http://schemas.openxmlformats.org/drawingml/2006/main">
            <a:pPr>
              <a:defRPr sz="1875" b="0">
                <a:solidFill>
                  <a:srgbClr val="52687A"/>
                </a:solidFill>
                <a:latin typeface="Arial"/>
                <a:ea typeface="Arial"/>
                <a:cs typeface="Arial"/>
              </a:defRPr>
            </a:pPr>
            <a:r>
              <a:rPr sz="1875" b="0">
                <a:solidFill>
                  <a:srgbClr val="52687A"/>
                </a:solidFill>
                <a:latin typeface="Arial"/>
                <a:ea typeface="Arial"/>
                <a:cs typeface="Arial"/>
              </a:rPr>
              <a:t>Planned integration. The signal must arrive before the payment completes.</a:t>
            </a:r>
          </a:p>
        </p:txBody>
      </p:sp>
      <p:sp>
        <p:nvSpPr>
          <p:cNvPr id="7" name="">
            <a:extLst xmlns:a="http://schemas.openxmlformats.org/drawingml/2006/main">
              <a:ext uri="{FF2B5EF4-FFF2-40B4-BE49-F238E27FC236}">
                <a16:creationId xmlns:a16="http://schemas.microsoft.com/office/drawing/2014/main" id="{67F5EAF5-F93B-4727-AF3C-A1EF1E209FB4}"/>
              </a:ext>
            </a:extLst>
          </p:cNvPr>
          <p:cNvSpPr>
            <a:spLocks xmlns:a="http://schemas.openxmlformats.org/drawingml/2006/main" noGrp="1"/>
          </p:cNvSpPr>
          <p:nvPr/>
        </p:nvSpPr>
        <p:spPr>
          <a:xfrm xmlns:a="http://schemas.openxmlformats.org/drawingml/2006/main">
            <a:off x="685800" y="2638425"/>
            <a:ext cx="619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2563EB"/>
                </a:solidFill>
                <a:latin typeface="Arial"/>
                <a:ea typeface="Arial"/>
                <a:cs typeface="Arial"/>
              </a:defRPr>
            </a:defPPr>
          </a:lstStyle>
          <a:p xmlns:a="http://schemas.openxmlformats.org/drawingml/2006/main">
            <a:pPr>
              <a:defRPr sz="2400" b="1">
                <a:solidFill>
                  <a:srgbClr val="2563EB"/>
                </a:solidFill>
                <a:latin typeface="Arial"/>
                <a:ea typeface="Arial"/>
                <a:cs typeface="Arial"/>
              </a:defRPr>
            </a:pPr>
            <a:r>
              <a:rPr sz="2400" b="1">
                <a:solidFill>
                  <a:srgbClr val="2563EB"/>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76EA06F6-CB43-4373-BB70-DC1DBEF74B1A}"/>
              </a:ext>
            </a:extLst>
          </p:cNvPr>
          <p:cNvSpPr>
            <a:spLocks xmlns:a="http://schemas.openxmlformats.org/drawingml/2006/main" noGrp="1"/>
          </p:cNvSpPr>
          <p:nvPr/>
        </p:nvSpPr>
        <p:spPr>
          <a:xfrm xmlns:a="http://schemas.openxmlformats.org/drawingml/2006/main">
            <a:off x="1514475" y="2638425"/>
            <a:ext cx="96678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A43"/>
                </a:solidFill>
                <a:latin typeface="Arial"/>
                <a:ea typeface="Arial"/>
                <a:cs typeface="Arial"/>
              </a:defRPr>
            </a:defPPr>
          </a:lstStyle>
          <a:p xmlns:a="http://schemas.openxmlformats.org/drawingml/2006/main">
            <a:pPr>
              <a:defRPr sz="2175" b="1">
                <a:solidFill>
                  <a:srgbClr val="102A43"/>
                </a:solidFill>
                <a:latin typeface="Arial"/>
                <a:ea typeface="Arial"/>
                <a:cs typeface="Arial"/>
              </a:defRPr>
            </a:pPr>
            <a:r>
              <a:rPr sz="2175" b="1">
                <a:solidFill>
                  <a:srgbClr val="102A43"/>
                </a:solidFill>
                <a:latin typeface="Arial"/>
                <a:ea typeface="Arial"/>
                <a:cs typeface="Arial"/>
              </a:rPr>
              <a:t>ScamCatch starts a voice conversation</a:t>
            </a:r>
          </a:p>
        </p:txBody>
      </p:sp>
      <p:sp>
        <p:nvSpPr>
          <p:cNvPr id="9" name="">
            <a:extLst xmlns:a="http://schemas.openxmlformats.org/drawingml/2006/main">
              <a:ext uri="{FF2B5EF4-FFF2-40B4-BE49-F238E27FC236}">
                <a16:creationId xmlns:a16="http://schemas.microsoft.com/office/drawing/2014/main" id="{ED8D0F5D-034D-459F-B835-1A8EF701E754}"/>
              </a:ext>
            </a:extLst>
          </p:cNvPr>
          <p:cNvSpPr>
            <a:spLocks xmlns:a="http://schemas.openxmlformats.org/drawingml/2006/main" noGrp="1"/>
          </p:cNvSpPr>
          <p:nvPr/>
        </p:nvSpPr>
        <p:spPr>
          <a:xfrm xmlns:a="http://schemas.openxmlformats.org/drawingml/2006/main">
            <a:off x="1514475" y="3067050"/>
            <a:ext cx="9667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2687A"/>
                </a:solidFill>
                <a:latin typeface="Arial"/>
                <a:ea typeface="Arial"/>
                <a:cs typeface="Arial"/>
              </a:defRPr>
            </a:defPPr>
          </a:lstStyle>
          <a:p xmlns:a="http://schemas.openxmlformats.org/drawingml/2006/main">
            <a:pPr>
              <a:defRPr sz="1875" b="0">
                <a:solidFill>
                  <a:srgbClr val="52687A"/>
                </a:solidFill>
                <a:latin typeface="Arial"/>
                <a:ea typeface="Arial"/>
                <a:cs typeface="Arial"/>
              </a:defRPr>
            </a:pPr>
            <a:r>
              <a:rPr sz="1875" b="0">
                <a:solidFill>
                  <a:srgbClr val="52687A"/>
                </a:solidFill>
                <a:latin typeface="Arial"/>
                <a:ea typeface="Arial"/>
                <a:cs typeface="Arial"/>
              </a:rPr>
              <a:t>It asks the person to pause and explain the situation.</a:t>
            </a:r>
          </a:p>
        </p:txBody>
      </p:sp>
      <p:sp>
        <p:nvSpPr>
          <p:cNvPr id="10" name="">
            <a:extLst xmlns:a="http://schemas.openxmlformats.org/drawingml/2006/main">
              <a:ext uri="{FF2B5EF4-FFF2-40B4-BE49-F238E27FC236}">
                <a16:creationId xmlns:a16="http://schemas.microsoft.com/office/drawing/2014/main" id="{2363F570-16D5-4817-9A79-4DD616B46D81}"/>
              </a:ext>
            </a:extLst>
          </p:cNvPr>
          <p:cNvSpPr>
            <a:spLocks xmlns:a="http://schemas.openxmlformats.org/drawingml/2006/main" noGrp="1"/>
          </p:cNvSpPr>
          <p:nvPr/>
        </p:nvSpPr>
        <p:spPr>
          <a:xfrm xmlns:a="http://schemas.openxmlformats.org/drawingml/2006/main">
            <a:off x="685800" y="3743325"/>
            <a:ext cx="619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2563EB"/>
                </a:solidFill>
                <a:latin typeface="Arial"/>
                <a:ea typeface="Arial"/>
                <a:cs typeface="Arial"/>
              </a:defRPr>
            </a:defPPr>
          </a:lstStyle>
          <a:p xmlns:a="http://schemas.openxmlformats.org/drawingml/2006/main">
            <a:pPr>
              <a:defRPr sz="2400" b="1">
                <a:solidFill>
                  <a:srgbClr val="2563EB"/>
                </a:solidFill>
                <a:latin typeface="Arial"/>
                <a:ea typeface="Arial"/>
                <a:cs typeface="Arial"/>
              </a:defRPr>
            </a:pPr>
            <a:r>
              <a:rPr sz="2400" b="1">
                <a:solidFill>
                  <a:srgbClr val="2563EB"/>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B8A44C38-70EB-45B5-BBC0-759BFF3102E7}"/>
              </a:ext>
            </a:extLst>
          </p:cNvPr>
          <p:cNvSpPr>
            <a:spLocks xmlns:a="http://schemas.openxmlformats.org/drawingml/2006/main" noGrp="1"/>
          </p:cNvSpPr>
          <p:nvPr/>
        </p:nvSpPr>
        <p:spPr>
          <a:xfrm xmlns:a="http://schemas.openxmlformats.org/drawingml/2006/main">
            <a:off x="1514475" y="3743325"/>
            <a:ext cx="96678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A43"/>
                </a:solidFill>
                <a:latin typeface="Arial"/>
                <a:ea typeface="Arial"/>
                <a:cs typeface="Arial"/>
              </a:defRPr>
            </a:defPPr>
          </a:lstStyle>
          <a:p xmlns:a="http://schemas.openxmlformats.org/drawingml/2006/main">
            <a:pPr>
              <a:defRPr sz="2175" b="1">
                <a:solidFill>
                  <a:srgbClr val="102A43"/>
                </a:solidFill>
                <a:latin typeface="Arial"/>
                <a:ea typeface="Arial"/>
                <a:cs typeface="Arial"/>
              </a:defRPr>
            </a:pPr>
            <a:r>
              <a:rPr sz="2175" b="1">
                <a:solidFill>
                  <a:srgbClr val="102A43"/>
                </a:solidFill>
                <a:latin typeface="Arial"/>
                <a:ea typeface="Arial"/>
                <a:cs typeface="Arial"/>
              </a:rPr>
              <a:t>The person verifies the request independently</a:t>
            </a:r>
          </a:p>
        </p:txBody>
      </p:sp>
      <p:sp>
        <p:nvSpPr>
          <p:cNvPr id="12" name="">
            <a:extLst xmlns:a="http://schemas.openxmlformats.org/drawingml/2006/main">
              <a:ext uri="{FF2B5EF4-FFF2-40B4-BE49-F238E27FC236}">
                <a16:creationId xmlns:a16="http://schemas.microsoft.com/office/drawing/2014/main" id="{92124A02-A9E4-4F1A-BF96-ECBD87F863FF}"/>
              </a:ext>
            </a:extLst>
          </p:cNvPr>
          <p:cNvSpPr>
            <a:spLocks xmlns:a="http://schemas.openxmlformats.org/drawingml/2006/main" noGrp="1"/>
          </p:cNvSpPr>
          <p:nvPr/>
        </p:nvSpPr>
        <p:spPr>
          <a:xfrm xmlns:a="http://schemas.openxmlformats.org/drawingml/2006/main">
            <a:off x="1514475" y="4171950"/>
            <a:ext cx="9667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2687A"/>
                </a:solidFill>
                <a:latin typeface="Arial"/>
                <a:ea typeface="Arial"/>
                <a:cs typeface="Arial"/>
              </a:defRPr>
            </a:defPPr>
          </a:lstStyle>
          <a:p xmlns:a="http://schemas.openxmlformats.org/drawingml/2006/main">
            <a:pPr>
              <a:defRPr sz="1875" b="0">
                <a:solidFill>
                  <a:srgbClr val="52687A"/>
                </a:solidFill>
                <a:latin typeface="Arial"/>
                <a:ea typeface="Arial"/>
                <a:cs typeface="Arial"/>
              </a:defRPr>
            </a:pPr>
            <a:r>
              <a:rPr sz="1875" b="0">
                <a:solidFill>
                  <a:srgbClr val="52687A"/>
                </a:solidFill>
                <a:latin typeface="Arial"/>
                <a:ea typeface="Arial"/>
                <a:cs typeface="Arial"/>
              </a:rPr>
              <a:t>Proposed next steps include a known bank number or a chosen trusted contact.</a:t>
            </a:r>
          </a:p>
        </p:txBody>
      </p:sp>
      <p:sp>
        <p:nvSpPr>
          <p:cNvPr id="13" name="">
            <a:extLst xmlns:a="http://schemas.openxmlformats.org/drawingml/2006/main">
              <a:ext uri="{FF2B5EF4-FFF2-40B4-BE49-F238E27FC236}">
                <a16:creationId xmlns:a16="http://schemas.microsoft.com/office/drawing/2014/main" id="{F737426D-D368-4712-8C2D-46BCDDBF117F}"/>
              </a:ext>
            </a:extLst>
          </p:cNvPr>
          <p:cNvSpPr>
            <a:spLocks xmlns:a="http://schemas.openxmlformats.org/drawingml/2006/main" noGrp="1"/>
          </p:cNvSpPr>
          <p:nvPr/>
        </p:nvSpPr>
        <p:spPr>
          <a:xfrm xmlns:a="http://schemas.openxmlformats.org/drawingml/2006/main">
            <a:off x="685800" y="531495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2563EB"/>
                </a:solidFill>
                <a:latin typeface="Arial"/>
                <a:ea typeface="Arial"/>
                <a:cs typeface="Arial"/>
              </a:defRPr>
            </a:defPPr>
          </a:lstStyle>
          <a:p xmlns:a="http://schemas.openxmlformats.org/drawingml/2006/main">
            <a:pPr>
              <a:defRPr sz="1875" b="1">
                <a:solidFill>
                  <a:srgbClr val="2563EB"/>
                </a:solidFill>
                <a:latin typeface="Arial"/>
                <a:ea typeface="Arial"/>
                <a:cs typeface="Arial"/>
              </a:defRPr>
            </a:pPr>
            <a:r>
              <a:rPr sz="1875" b="1">
                <a:solidFill>
                  <a:srgbClr val="2563EB"/>
                </a:solidFill>
                <a:latin typeface="Arial"/>
                <a:ea typeface="Arial"/>
                <a:cs typeface="Arial"/>
              </a:rPr>
              <a:t>Today: Android development prototype with a voice warning after a flagged screen check.</a:t>
            </a:r>
          </a:p>
        </p:txBody>
      </p:sp>
    </p:spTree>
    <p:extLst>
      <p:ext uri="{BB962C8B-B14F-4D97-AF65-F5344CB8AC3E}">
        <p14:creationId xmlns:p14="http://schemas.microsoft.com/office/powerpoint/2010/main" val="1710129272"/>
      </p:ext>
    </p:extLst>
  </p:cSld>
</p:sld>
</file>

<file path=ppt/slides/slide4.xml><?xml version="1.0" encoding="utf-8"?>
<p:sld xmlns:p="http://schemas.openxmlformats.org/presentationml/2006/main">
  <p:cSld>
    <p:bg>
      <p:bgPr>
        <a:solidFill xmlns:a="http://schemas.openxmlformats.org/drawingml/2006/main">
          <a:srgbClr val="102A43"/>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2DC3E93E-D51C-4805-9E99-22A81081B016}"/>
              </a:ext>
            </a:extLst>
          </p:cNvPr>
          <p:cNvSpPr>
            <a:spLocks xmlns:a="http://schemas.openxmlformats.org/drawingml/2006/main" noGrp="1"/>
          </p:cNvSpPr>
          <p:nvPr/>
        </p:nvSpPr>
        <p:spPr>
          <a:xfrm xmlns:a="http://schemas.openxmlformats.org/drawingml/2006/main">
            <a:off x="685800" y="523875"/>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FFFFFF"/>
                </a:solidFill>
                <a:latin typeface="Arial"/>
                <a:ea typeface="Arial"/>
                <a:cs typeface="Arial"/>
              </a:defRPr>
            </a:defPPr>
          </a:lstStyle>
          <a:p xmlns:a="http://schemas.openxmlformats.org/drawingml/2006/main">
            <a:pPr>
              <a:defRPr sz="3450" b="1">
                <a:solidFill>
                  <a:srgbClr val="FFFFFF"/>
                </a:solidFill>
                <a:latin typeface="Arial"/>
                <a:ea typeface="Arial"/>
                <a:cs typeface="Arial"/>
              </a:defRPr>
            </a:pPr>
            <a:r>
              <a:rPr sz="3450" b="1">
                <a:solidFill>
                  <a:srgbClr val="FFFFFF"/>
                </a:solidFill>
                <a:latin typeface="Arial"/>
                <a:ea typeface="Arial"/>
                <a:cs typeface="Arial"/>
              </a:rPr>
              <a:t>Target users and buyers</a:t>
            </a:r>
          </a:p>
        </p:txBody>
      </p:sp>
      <p:sp>
        <p:nvSpPr>
          <p:cNvPr id="2" name="">
            <a:extLst xmlns:a="http://schemas.openxmlformats.org/drawingml/2006/main">
              <a:ext uri="{FF2B5EF4-FFF2-40B4-BE49-F238E27FC236}">
                <a16:creationId xmlns:a16="http://schemas.microsoft.com/office/drawing/2014/main" id="{4BA8FED2-ACF5-4C4E-A712-72530A70A80A}"/>
              </a:ext>
            </a:extLst>
          </p:cNvPr>
          <p:cNvSpPr>
            <a:spLocks xmlns:a="http://schemas.openxmlformats.org/drawingml/2006/main" noGrp="1"/>
          </p:cNvSpPr>
          <p:nvPr/>
        </p:nvSpPr>
        <p:spPr>
          <a:xfrm xmlns:a="http://schemas.openxmlformats.org/drawingml/2006/main">
            <a:off x="685800" y="6334125"/>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DCEBFF"/>
                </a:solidFill>
                <a:latin typeface="Arial"/>
                <a:ea typeface="Arial"/>
                <a:cs typeface="Arial"/>
              </a:defRPr>
            </a:defPPr>
          </a:lstStyle>
          <a:p xmlns:a="http://schemas.openxmlformats.org/drawingml/2006/main">
            <a:pPr>
              <a:defRPr sz="1200" b="0">
                <a:solidFill>
                  <a:srgbClr val="DCEBFF"/>
                </a:solidFill>
                <a:latin typeface="Arial"/>
                <a:ea typeface="Arial"/>
                <a:cs typeface="Arial"/>
              </a:defRPr>
            </a:pPr>
            <a:r>
              <a:rPr sz="1200" b="0">
                <a:solidFill>
                  <a:srgbClr val="DCEBFF"/>
                </a:solidFill>
                <a:latin typeface="Arial"/>
                <a:ea typeface="Arial"/>
                <a:cs typeface="Arial"/>
              </a:rPr>
              <a:t>ScamCatch  /  Application draft  /  October 8, 2026</a:t>
            </a:r>
          </a:p>
        </p:txBody>
      </p:sp>
      <p:sp>
        <p:nvSpPr>
          <p:cNvPr id="3" name="">
            <a:extLst xmlns:a="http://schemas.openxmlformats.org/drawingml/2006/main">
              <a:ext uri="{FF2B5EF4-FFF2-40B4-BE49-F238E27FC236}">
                <a16:creationId xmlns:a16="http://schemas.microsoft.com/office/drawing/2014/main" id="{FDCAC107-E6E3-4E45-893E-8D9D57094CF1}"/>
              </a:ext>
            </a:extLst>
          </p:cNvPr>
          <p:cNvSpPr>
            <a:spLocks xmlns:a="http://schemas.openxmlformats.org/drawingml/2006/main" noGrp="1"/>
          </p:cNvSpPr>
          <p:nvPr/>
        </p:nvSpPr>
        <p:spPr>
          <a:xfrm xmlns:a="http://schemas.openxmlformats.org/drawingml/2006/main">
            <a:off x="11049000" y="6315075"/>
            <a:ext cx="428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DCEBFF"/>
                </a:solidFill>
                <a:latin typeface="Arial"/>
                <a:ea typeface="Arial"/>
                <a:cs typeface="Arial"/>
              </a:defRPr>
            </a:defPPr>
          </a:lstStyle>
          <a:p xmlns:a="http://schemas.openxmlformats.org/drawingml/2006/main">
            <a:pPr>
              <a:defRPr sz="1275" b="0">
                <a:solidFill>
                  <a:srgbClr val="DCEBFF"/>
                </a:solidFill>
                <a:latin typeface="Arial"/>
                <a:ea typeface="Arial"/>
                <a:cs typeface="Arial"/>
              </a:defRPr>
            </a:pPr>
            <a:r>
              <a:rPr sz="1275" b="0">
                <a:solidFill>
                  <a:srgbClr val="DCEBFF"/>
                </a:solidFill>
                <a:latin typeface="Arial"/>
                <a:ea typeface="Arial"/>
                <a:cs typeface="Arial"/>
              </a:rPr>
              <a:t>04</a:t>
            </a:r>
          </a:p>
        </p:txBody>
      </p:sp>
      <p:sp>
        <p:nvSpPr>
          <p:cNvPr id="4" name="">
            <a:extLst xmlns:a="http://schemas.openxmlformats.org/drawingml/2006/main">
              <a:ext uri="{FF2B5EF4-FFF2-40B4-BE49-F238E27FC236}">
                <a16:creationId xmlns:a16="http://schemas.microsoft.com/office/drawing/2014/main" id="{560C1B04-B529-471C-AECA-9F133EBB2502}"/>
              </a:ext>
            </a:extLst>
          </p:cNvPr>
          <p:cNvSpPr>
            <a:spLocks xmlns:a="http://schemas.openxmlformats.org/drawingml/2006/main" noGrp="1"/>
          </p:cNvSpPr>
          <p:nvPr/>
        </p:nvSpPr>
        <p:spPr>
          <a:xfrm xmlns:a="http://schemas.openxmlformats.org/drawingml/2006/main">
            <a:off x="685800" y="1581150"/>
            <a:ext cx="619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DCEBFF"/>
                </a:solidFill>
                <a:latin typeface="Arial"/>
                <a:ea typeface="Arial"/>
                <a:cs typeface="Arial"/>
              </a:defRPr>
            </a:defPPr>
          </a:lstStyle>
          <a:p xmlns:a="http://schemas.openxmlformats.org/drawingml/2006/main">
            <a:pPr>
              <a:defRPr sz="2400" b="1">
                <a:solidFill>
                  <a:srgbClr val="DCEBFF"/>
                </a:solidFill>
                <a:latin typeface="Arial"/>
                <a:ea typeface="Arial"/>
                <a:cs typeface="Arial"/>
              </a:defRPr>
            </a:pPr>
            <a:r>
              <a:rPr sz="2400" b="1">
                <a:solidFill>
                  <a:srgbClr val="DCEBFF"/>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5730B130-1160-42F4-9E71-ED9744C0B6B1}"/>
              </a:ext>
            </a:extLst>
          </p:cNvPr>
          <p:cNvSpPr>
            <a:spLocks xmlns:a="http://schemas.openxmlformats.org/drawingml/2006/main" noGrp="1"/>
          </p:cNvSpPr>
          <p:nvPr/>
        </p:nvSpPr>
        <p:spPr>
          <a:xfrm xmlns:a="http://schemas.openxmlformats.org/drawingml/2006/main">
            <a:off x="1514475" y="1581150"/>
            <a:ext cx="96678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FFFFFF"/>
                </a:solidFill>
                <a:latin typeface="Arial"/>
                <a:ea typeface="Arial"/>
                <a:cs typeface="Arial"/>
              </a:defRPr>
            </a:defPPr>
          </a:lstStyle>
          <a:p xmlns:a="http://schemas.openxmlformats.org/drawingml/2006/main">
            <a:pPr>
              <a:defRPr sz="2175" b="1">
                <a:solidFill>
                  <a:srgbClr val="FFFFFF"/>
                </a:solidFill>
                <a:latin typeface="Arial"/>
                <a:ea typeface="Arial"/>
                <a:cs typeface="Arial"/>
              </a:defRPr>
            </a:pPr>
            <a:r>
              <a:rPr sz="2175" b="1">
                <a:solidFill>
                  <a:srgbClr val="FFFFFF"/>
                </a:solidFill>
                <a:latin typeface="Arial"/>
                <a:ea typeface="Arial"/>
                <a:cs typeface="Arial"/>
              </a:rPr>
              <a:t>Users: older adults</a:t>
            </a:r>
          </a:p>
        </p:txBody>
      </p:sp>
      <p:sp>
        <p:nvSpPr>
          <p:cNvPr id="6" name="">
            <a:extLst xmlns:a="http://schemas.openxmlformats.org/drawingml/2006/main">
              <a:ext uri="{FF2B5EF4-FFF2-40B4-BE49-F238E27FC236}">
                <a16:creationId xmlns:a16="http://schemas.microsoft.com/office/drawing/2014/main" id="{3F9EE8C0-216A-435F-93D2-6C381EF3B944}"/>
              </a:ext>
            </a:extLst>
          </p:cNvPr>
          <p:cNvSpPr>
            <a:spLocks xmlns:a="http://schemas.openxmlformats.org/drawingml/2006/main" noGrp="1"/>
          </p:cNvSpPr>
          <p:nvPr/>
        </p:nvSpPr>
        <p:spPr>
          <a:xfrm xmlns:a="http://schemas.openxmlformats.org/drawingml/2006/main">
            <a:off x="1514475" y="2009775"/>
            <a:ext cx="9667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DCEBFF"/>
                </a:solidFill>
                <a:latin typeface="Arial"/>
                <a:ea typeface="Arial"/>
                <a:cs typeface="Arial"/>
              </a:defRPr>
            </a:defPPr>
          </a:lstStyle>
          <a:p xmlns:a="http://schemas.openxmlformats.org/drawingml/2006/main">
            <a:pPr>
              <a:defRPr sz="1875" b="0">
                <a:solidFill>
                  <a:srgbClr val="DCEBFF"/>
                </a:solidFill>
                <a:latin typeface="Arial"/>
                <a:ea typeface="Arial"/>
                <a:cs typeface="Arial"/>
              </a:defRPr>
            </a:pPr>
            <a:r>
              <a:rPr sz="1875" b="0">
                <a:solidFill>
                  <a:srgbClr val="DCEBFF"/>
                </a:solidFill>
                <a:latin typeface="Arial"/>
                <a:ea typeface="Arial"/>
                <a:cs typeface="Arial"/>
              </a:rPr>
              <a:t>Voice support during a suspicious payment request.</a:t>
            </a:r>
          </a:p>
        </p:txBody>
      </p:sp>
      <p:sp>
        <p:nvSpPr>
          <p:cNvPr id="7" name="">
            <a:extLst xmlns:a="http://schemas.openxmlformats.org/drawingml/2006/main">
              <a:ext uri="{FF2B5EF4-FFF2-40B4-BE49-F238E27FC236}">
                <a16:creationId xmlns:a16="http://schemas.microsoft.com/office/drawing/2014/main" id="{7EF63139-DD2C-4652-99A2-7B820EB334B6}"/>
              </a:ext>
            </a:extLst>
          </p:cNvPr>
          <p:cNvSpPr>
            <a:spLocks xmlns:a="http://schemas.openxmlformats.org/drawingml/2006/main" noGrp="1"/>
          </p:cNvSpPr>
          <p:nvPr/>
        </p:nvSpPr>
        <p:spPr>
          <a:xfrm xmlns:a="http://schemas.openxmlformats.org/drawingml/2006/main">
            <a:off x="685800" y="2781300"/>
            <a:ext cx="619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DCEBFF"/>
                </a:solidFill>
                <a:latin typeface="Arial"/>
                <a:ea typeface="Arial"/>
                <a:cs typeface="Arial"/>
              </a:defRPr>
            </a:defPPr>
          </a:lstStyle>
          <a:p xmlns:a="http://schemas.openxmlformats.org/drawingml/2006/main">
            <a:pPr>
              <a:defRPr sz="2400" b="1">
                <a:solidFill>
                  <a:srgbClr val="DCEBFF"/>
                </a:solidFill>
                <a:latin typeface="Arial"/>
                <a:ea typeface="Arial"/>
                <a:cs typeface="Arial"/>
              </a:defRPr>
            </a:pPr>
            <a:r>
              <a:rPr sz="2400" b="1">
                <a:solidFill>
                  <a:srgbClr val="DCEBFF"/>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3F575699-019D-4A30-8BFA-4F8127032A08}"/>
              </a:ext>
            </a:extLst>
          </p:cNvPr>
          <p:cNvSpPr>
            <a:spLocks xmlns:a="http://schemas.openxmlformats.org/drawingml/2006/main" noGrp="1"/>
          </p:cNvSpPr>
          <p:nvPr/>
        </p:nvSpPr>
        <p:spPr>
          <a:xfrm xmlns:a="http://schemas.openxmlformats.org/drawingml/2006/main">
            <a:off x="1514475" y="2781300"/>
            <a:ext cx="96678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FFFFFF"/>
                </a:solidFill>
                <a:latin typeface="Arial"/>
                <a:ea typeface="Arial"/>
                <a:cs typeface="Arial"/>
              </a:defRPr>
            </a:defPPr>
          </a:lstStyle>
          <a:p xmlns:a="http://schemas.openxmlformats.org/drawingml/2006/main">
            <a:pPr>
              <a:defRPr sz="2175" b="1">
                <a:solidFill>
                  <a:srgbClr val="FFFFFF"/>
                </a:solidFill>
                <a:latin typeface="Arial"/>
                <a:ea typeface="Arial"/>
                <a:cs typeface="Arial"/>
              </a:defRPr>
            </a:pPr>
            <a:r>
              <a:rPr sz="2175" b="1">
                <a:solidFill>
                  <a:srgbClr val="FFFFFF"/>
                </a:solidFill>
                <a:latin typeface="Arial"/>
                <a:ea typeface="Arial"/>
                <a:cs typeface="Arial"/>
              </a:rPr>
              <a:t>Potential buyers: families and institutions</a:t>
            </a:r>
          </a:p>
        </p:txBody>
      </p:sp>
      <p:sp>
        <p:nvSpPr>
          <p:cNvPr id="9" name="">
            <a:extLst xmlns:a="http://schemas.openxmlformats.org/drawingml/2006/main">
              <a:ext uri="{FF2B5EF4-FFF2-40B4-BE49-F238E27FC236}">
                <a16:creationId xmlns:a16="http://schemas.microsoft.com/office/drawing/2014/main" id="{DCB7E7C2-D95E-487E-8482-2745D7F6671A}"/>
              </a:ext>
            </a:extLst>
          </p:cNvPr>
          <p:cNvSpPr>
            <a:spLocks xmlns:a="http://schemas.openxmlformats.org/drawingml/2006/main" noGrp="1"/>
          </p:cNvSpPr>
          <p:nvPr/>
        </p:nvSpPr>
        <p:spPr>
          <a:xfrm xmlns:a="http://schemas.openxmlformats.org/drawingml/2006/main">
            <a:off x="1514475" y="3209925"/>
            <a:ext cx="9667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DCEBFF"/>
                </a:solidFill>
                <a:latin typeface="Arial"/>
                <a:ea typeface="Arial"/>
                <a:cs typeface="Arial"/>
              </a:defRPr>
            </a:defPPr>
          </a:lstStyle>
          <a:p xmlns:a="http://schemas.openxmlformats.org/drawingml/2006/main">
            <a:pPr>
              <a:defRPr sz="1875" b="0">
                <a:solidFill>
                  <a:srgbClr val="DCEBFF"/>
                </a:solidFill>
                <a:latin typeface="Arial"/>
                <a:ea typeface="Arial"/>
                <a:cs typeface="Arial"/>
              </a:defRPr>
            </a:pPr>
            <a:r>
              <a:rPr sz="1875" b="0">
                <a:solidFill>
                  <a:srgbClr val="DCEBFF"/>
                </a:solidFill>
                <a:latin typeface="Arial"/>
                <a:ea typeface="Arial"/>
                <a:cs typeface="Arial"/>
              </a:rPr>
              <a:t>Older adults and their adult children. Banks, credit unions and senior living homes.</a:t>
            </a:r>
          </a:p>
        </p:txBody>
      </p:sp>
      <p:sp>
        <p:nvSpPr>
          <p:cNvPr id="10" name="">
            <a:extLst xmlns:a="http://schemas.openxmlformats.org/drawingml/2006/main">
              <a:ext uri="{FF2B5EF4-FFF2-40B4-BE49-F238E27FC236}">
                <a16:creationId xmlns:a16="http://schemas.microsoft.com/office/drawing/2014/main" id="{3AE60AB4-260B-4931-8261-91F46E4CFF89}"/>
              </a:ext>
            </a:extLst>
          </p:cNvPr>
          <p:cNvSpPr>
            <a:spLocks xmlns:a="http://schemas.openxmlformats.org/drawingml/2006/main" noGrp="1"/>
          </p:cNvSpPr>
          <p:nvPr/>
        </p:nvSpPr>
        <p:spPr>
          <a:xfrm xmlns:a="http://schemas.openxmlformats.org/drawingml/2006/main">
            <a:off x="685800" y="3981450"/>
            <a:ext cx="619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DCEBFF"/>
                </a:solidFill>
                <a:latin typeface="Arial"/>
                <a:ea typeface="Arial"/>
                <a:cs typeface="Arial"/>
              </a:defRPr>
            </a:defPPr>
          </a:lstStyle>
          <a:p xmlns:a="http://schemas.openxmlformats.org/drawingml/2006/main">
            <a:pPr>
              <a:defRPr sz="2400" b="1">
                <a:solidFill>
                  <a:srgbClr val="DCEBFF"/>
                </a:solidFill>
                <a:latin typeface="Arial"/>
                <a:ea typeface="Arial"/>
                <a:cs typeface="Arial"/>
              </a:defRPr>
            </a:pPr>
            <a:r>
              <a:rPr sz="2400" b="1">
                <a:solidFill>
                  <a:srgbClr val="DCEBFF"/>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2A3FDB8C-A833-45AF-AADA-A1B4E3451150}"/>
              </a:ext>
            </a:extLst>
          </p:cNvPr>
          <p:cNvSpPr>
            <a:spLocks xmlns:a="http://schemas.openxmlformats.org/drawingml/2006/main" noGrp="1"/>
          </p:cNvSpPr>
          <p:nvPr/>
        </p:nvSpPr>
        <p:spPr>
          <a:xfrm xmlns:a="http://schemas.openxmlformats.org/drawingml/2006/main">
            <a:off x="1514475" y="3981450"/>
            <a:ext cx="96678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FFFFFF"/>
                </a:solidFill>
                <a:latin typeface="Arial"/>
                <a:ea typeface="Arial"/>
                <a:cs typeface="Arial"/>
              </a:defRPr>
            </a:defPPr>
          </a:lstStyle>
          <a:p xmlns:a="http://schemas.openxmlformats.org/drawingml/2006/main">
            <a:pPr>
              <a:defRPr sz="2175" b="1">
                <a:solidFill>
                  <a:srgbClr val="FFFFFF"/>
                </a:solidFill>
                <a:latin typeface="Arial"/>
                <a:ea typeface="Arial"/>
                <a:cs typeface="Arial"/>
              </a:defRPr>
            </a:pPr>
            <a:r>
              <a:rPr sz="2175" b="1">
                <a:solidFill>
                  <a:srgbClr val="FFFFFF"/>
                </a:solidFill>
                <a:latin typeface="Arial"/>
                <a:ea typeface="Arial"/>
                <a:cs typeface="Arial"/>
              </a:rPr>
              <a:t>Initial use case: an urgent transfer</a:t>
            </a:r>
          </a:p>
        </p:txBody>
      </p:sp>
      <p:sp>
        <p:nvSpPr>
          <p:cNvPr id="12" name="">
            <a:extLst xmlns:a="http://schemas.openxmlformats.org/drawingml/2006/main">
              <a:ext uri="{FF2B5EF4-FFF2-40B4-BE49-F238E27FC236}">
                <a16:creationId xmlns:a16="http://schemas.microsoft.com/office/drawing/2014/main" id="{67F5425D-2AC4-4D3E-9075-5D46E2778BC3}"/>
              </a:ext>
            </a:extLst>
          </p:cNvPr>
          <p:cNvSpPr>
            <a:spLocks xmlns:a="http://schemas.openxmlformats.org/drawingml/2006/main" noGrp="1"/>
          </p:cNvSpPr>
          <p:nvPr/>
        </p:nvSpPr>
        <p:spPr>
          <a:xfrm xmlns:a="http://schemas.openxmlformats.org/drawingml/2006/main">
            <a:off x="1514475" y="4410075"/>
            <a:ext cx="9667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DCEBFF"/>
                </a:solidFill>
                <a:latin typeface="Arial"/>
                <a:ea typeface="Arial"/>
                <a:cs typeface="Arial"/>
              </a:defRPr>
            </a:defPPr>
          </a:lstStyle>
          <a:p xmlns:a="http://schemas.openxmlformats.org/drawingml/2006/main">
            <a:pPr>
              <a:defRPr sz="1875" b="0">
                <a:solidFill>
                  <a:srgbClr val="DCEBFF"/>
                </a:solidFill>
                <a:latin typeface="Arial"/>
                <a:ea typeface="Arial"/>
                <a:cs typeface="Arial"/>
              </a:defRPr>
            </a:pPr>
            <a:r>
              <a:rPr sz="1875" b="0">
                <a:solidFill>
                  <a:srgbClr val="DCEBFF"/>
                </a:solidFill>
                <a:latin typeface="Arial"/>
                <a:ea typeface="Arial"/>
                <a:cs typeface="Arial"/>
              </a:rPr>
              <a:t>Start with an unusual payment to a new recipient.</a:t>
            </a:r>
          </a:p>
        </p:txBody>
      </p:sp>
      <p:sp>
        <p:nvSpPr>
          <p:cNvPr id="13" name="">
            <a:extLst xmlns:a="http://schemas.openxmlformats.org/drawingml/2006/main">
              <a:ext uri="{FF2B5EF4-FFF2-40B4-BE49-F238E27FC236}">
                <a16:creationId xmlns:a16="http://schemas.microsoft.com/office/drawing/2014/main" id="{8A656233-AC99-44D7-B013-4039EF9E4C6B}"/>
              </a:ext>
            </a:extLst>
          </p:cNvPr>
          <p:cNvSpPr>
            <a:spLocks xmlns:a="http://schemas.openxmlformats.org/drawingml/2006/main" noGrp="1"/>
          </p:cNvSpPr>
          <p:nvPr/>
        </p:nvSpPr>
        <p:spPr>
          <a:xfrm xmlns:a="http://schemas.openxmlformats.org/drawingml/2006/main">
            <a:off x="1514475" y="5448300"/>
            <a:ext cx="95250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DCEBFF"/>
                </a:solidFill>
                <a:latin typeface="Arial"/>
                <a:ea typeface="Arial"/>
                <a:cs typeface="Arial"/>
              </a:defRPr>
            </a:defPPr>
          </a:lstStyle>
          <a:p xmlns:a="http://schemas.openxmlformats.org/drawingml/2006/main">
            <a:pPr>
              <a:defRPr sz="1800" b="0">
                <a:solidFill>
                  <a:srgbClr val="DCEBFF"/>
                </a:solidFill>
                <a:latin typeface="Arial"/>
                <a:ea typeface="Arial"/>
                <a:cs typeface="Arial"/>
              </a:defRPr>
            </a:pPr>
            <a:r>
              <a:rPr sz="1800" b="0">
                <a:solidFill>
                  <a:srgbClr val="DCEBFF"/>
                </a:solidFill>
                <a:latin typeface="Arial"/>
                <a:ea typeface="Arial"/>
                <a:cs typeface="Arial"/>
              </a:rPr>
              <a:t>The first buyer, distribution channel and budget still need validation.</a:t>
            </a:r>
          </a:p>
        </p:txBody>
      </p:sp>
    </p:spTree>
    <p:extLst>
      <p:ext uri="{BB962C8B-B14F-4D97-AF65-F5344CB8AC3E}">
        <p14:creationId xmlns:p14="http://schemas.microsoft.com/office/powerpoint/2010/main" val="918523374"/>
      </p:ext>
    </p:extLst>
  </p:cSld>
</p:sld>
</file>

<file path=ppt/slides/slide5.xml><?xml version="1.0" encoding="utf-8"?>
<p:sld xmlns:p="http://schemas.openxmlformats.org/presentationml/2006/main">
  <p:cSld>
    <p:bg>
      <p:bgPr>
        <a:solidFill xmlns:a="http://schemas.openxmlformats.org/drawingml/2006/main">
          <a:srgbClr val="FAFC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7E986F0-232F-48F4-8474-A6B39DB94FB4}"/>
              </a:ext>
            </a:extLst>
          </p:cNvPr>
          <p:cNvSpPr>
            <a:spLocks xmlns:a="http://schemas.openxmlformats.org/drawingml/2006/main" noGrp="1"/>
          </p:cNvSpPr>
          <p:nvPr/>
        </p:nvSpPr>
        <p:spPr>
          <a:xfrm xmlns:a="http://schemas.openxmlformats.org/drawingml/2006/main">
            <a:off x="685800" y="523875"/>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02A43"/>
                </a:solidFill>
                <a:latin typeface="Arial"/>
                <a:ea typeface="Arial"/>
                <a:cs typeface="Arial"/>
              </a:defRPr>
            </a:defPPr>
          </a:lstStyle>
          <a:p xmlns:a="http://schemas.openxmlformats.org/drawingml/2006/main">
            <a:pPr>
              <a:defRPr sz="3450" b="1">
                <a:solidFill>
                  <a:srgbClr val="102A43"/>
                </a:solidFill>
                <a:latin typeface="Arial"/>
                <a:ea typeface="Arial"/>
                <a:cs typeface="Arial"/>
              </a:defRPr>
            </a:pPr>
            <a:r>
              <a:rPr sz="3450" b="1">
                <a:solidFill>
                  <a:srgbClr val="102A43"/>
                </a:solidFill>
                <a:latin typeface="Arial"/>
                <a:ea typeface="Arial"/>
                <a:cs typeface="Arial"/>
              </a:rPr>
              <a:t>Market context and sizing</a:t>
            </a:r>
          </a:p>
        </p:txBody>
      </p:sp>
      <p:sp>
        <p:nvSpPr>
          <p:cNvPr id="2" name="">
            <a:extLst xmlns:a="http://schemas.openxmlformats.org/drawingml/2006/main">
              <a:ext uri="{FF2B5EF4-FFF2-40B4-BE49-F238E27FC236}">
                <a16:creationId xmlns:a16="http://schemas.microsoft.com/office/drawing/2014/main" id="{D24F94DF-9ABD-4D19-A793-7EF6A3F883E1}"/>
              </a:ext>
            </a:extLst>
          </p:cNvPr>
          <p:cNvSpPr>
            <a:spLocks xmlns:a="http://schemas.openxmlformats.org/drawingml/2006/main" noGrp="1"/>
          </p:cNvSpPr>
          <p:nvPr/>
        </p:nvSpPr>
        <p:spPr>
          <a:xfrm xmlns:a="http://schemas.openxmlformats.org/drawingml/2006/main">
            <a:off x="685800" y="6334125"/>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87A"/>
                </a:solidFill>
                <a:latin typeface="Arial"/>
                <a:ea typeface="Arial"/>
                <a:cs typeface="Arial"/>
              </a:defRPr>
            </a:defPPr>
          </a:lstStyle>
          <a:p xmlns:a="http://schemas.openxmlformats.org/drawingml/2006/main">
            <a:pPr>
              <a:defRPr sz="1200" b="0">
                <a:solidFill>
                  <a:srgbClr val="52687A"/>
                </a:solidFill>
                <a:latin typeface="Arial"/>
                <a:ea typeface="Arial"/>
                <a:cs typeface="Arial"/>
              </a:defRPr>
            </a:pPr>
            <a:r>
              <a:rPr sz="1200" b="0">
                <a:solidFill>
                  <a:srgbClr val="52687A"/>
                </a:solidFill>
                <a:latin typeface="Arial"/>
                <a:ea typeface="Arial"/>
                <a:cs typeface="Arial"/>
              </a:rPr>
              <a:t>ScamCatch  /  Application draft  /  October 8, 2026</a:t>
            </a:r>
          </a:p>
        </p:txBody>
      </p:sp>
      <p:sp>
        <p:nvSpPr>
          <p:cNvPr id="3" name="">
            <a:extLst xmlns:a="http://schemas.openxmlformats.org/drawingml/2006/main">
              <a:ext uri="{FF2B5EF4-FFF2-40B4-BE49-F238E27FC236}">
                <a16:creationId xmlns:a16="http://schemas.microsoft.com/office/drawing/2014/main" id="{C84FBA5A-A51E-4DFF-82FC-1E3018704529}"/>
              </a:ext>
            </a:extLst>
          </p:cNvPr>
          <p:cNvSpPr>
            <a:spLocks xmlns:a="http://schemas.openxmlformats.org/drawingml/2006/main" noGrp="1"/>
          </p:cNvSpPr>
          <p:nvPr/>
        </p:nvSpPr>
        <p:spPr>
          <a:xfrm xmlns:a="http://schemas.openxmlformats.org/drawingml/2006/main">
            <a:off x="11049000" y="6315075"/>
            <a:ext cx="428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87A"/>
                </a:solidFill>
                <a:latin typeface="Arial"/>
                <a:ea typeface="Arial"/>
                <a:cs typeface="Arial"/>
              </a:defRPr>
            </a:defPPr>
          </a:lstStyle>
          <a:p xmlns:a="http://schemas.openxmlformats.org/drawingml/2006/main">
            <a:pPr>
              <a:defRPr sz="1275" b="0">
                <a:solidFill>
                  <a:srgbClr val="52687A"/>
                </a:solidFill>
                <a:latin typeface="Arial"/>
                <a:ea typeface="Arial"/>
                <a:cs typeface="Arial"/>
              </a:defRPr>
            </a:pPr>
            <a:r>
              <a:rPr sz="1275" b="0">
                <a:solidFill>
                  <a:srgbClr val="52687A"/>
                </a:solidFill>
                <a:latin typeface="Arial"/>
                <a:ea typeface="Arial"/>
                <a:cs typeface="Arial"/>
              </a:rPr>
              <a:t>05</a:t>
            </a:r>
          </a:p>
        </p:txBody>
      </p:sp>
      <p:sp>
        <p:nvSpPr>
          <p:cNvPr id="4" name="">
            <a:extLst xmlns:a="http://schemas.openxmlformats.org/drawingml/2006/main">
              <a:ext uri="{FF2B5EF4-FFF2-40B4-BE49-F238E27FC236}">
                <a16:creationId xmlns:a16="http://schemas.microsoft.com/office/drawing/2014/main" id="{99A7725D-52EC-4D61-84AA-8EC6D3C99176}"/>
              </a:ext>
            </a:extLst>
          </p:cNvPr>
          <p:cNvSpPr>
            <a:spLocks xmlns:a="http://schemas.openxmlformats.org/drawingml/2006/main" noGrp="1"/>
          </p:cNvSpPr>
          <p:nvPr/>
        </p:nvSpPr>
        <p:spPr>
          <a:xfrm xmlns:a="http://schemas.openxmlformats.org/drawingml/2006/main">
            <a:off x="685800" y="1628775"/>
            <a:ext cx="581025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8100" b="1">
                <a:solidFill>
                  <a:srgbClr val="2563EB"/>
                </a:solidFill>
                <a:latin typeface="Arial"/>
                <a:ea typeface="Arial"/>
                <a:cs typeface="Arial"/>
              </a:defRPr>
            </a:defPPr>
          </a:lstStyle>
          <a:p xmlns:a="http://schemas.openxmlformats.org/drawingml/2006/main">
            <a:pPr>
              <a:defRPr sz="8100" b="1">
                <a:solidFill>
                  <a:srgbClr val="2563EB"/>
                </a:solidFill>
                <a:latin typeface="Arial"/>
                <a:ea typeface="Arial"/>
                <a:cs typeface="Arial"/>
              </a:defRPr>
            </a:pPr>
            <a:r>
              <a:rPr sz="8100" b="1">
                <a:solidFill>
                  <a:srgbClr val="2563EB"/>
                </a:solidFill>
                <a:latin typeface="Arial"/>
                <a:ea typeface="Arial"/>
                <a:cs typeface="Arial"/>
              </a:rPr>
              <a:t>61.2M</a:t>
            </a:r>
          </a:p>
        </p:txBody>
      </p:sp>
      <p:sp>
        <p:nvSpPr>
          <p:cNvPr id="5" name="">
            <a:extLst xmlns:a="http://schemas.openxmlformats.org/drawingml/2006/main">
              <a:ext uri="{FF2B5EF4-FFF2-40B4-BE49-F238E27FC236}">
                <a16:creationId xmlns:a16="http://schemas.microsoft.com/office/drawing/2014/main" id="{D22B9B89-1005-46E4-8482-E9CBD6192E56}"/>
              </a:ext>
            </a:extLst>
          </p:cNvPr>
          <p:cNvSpPr>
            <a:spLocks xmlns:a="http://schemas.openxmlformats.org/drawingml/2006/main" noGrp="1"/>
          </p:cNvSpPr>
          <p:nvPr/>
        </p:nvSpPr>
        <p:spPr>
          <a:xfrm xmlns:a="http://schemas.openxmlformats.org/drawingml/2006/main">
            <a:off x="742950" y="3162300"/>
            <a:ext cx="58102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02A43"/>
                </a:solidFill>
                <a:latin typeface="Arial"/>
                <a:ea typeface="Arial"/>
                <a:cs typeface="Arial"/>
              </a:defRPr>
            </a:defPPr>
          </a:lstStyle>
          <a:p xmlns:a="http://schemas.openxmlformats.org/drawingml/2006/main">
            <a:pPr>
              <a:defRPr sz="2325" b="0">
                <a:solidFill>
                  <a:srgbClr val="102A43"/>
                </a:solidFill>
                <a:latin typeface="Arial"/>
                <a:ea typeface="Arial"/>
                <a:cs typeface="Arial"/>
              </a:defRPr>
            </a:pPr>
            <a:r>
              <a:rPr sz="2325" b="0">
                <a:solidFill>
                  <a:srgbClr val="102A43"/>
                </a:solidFill>
                <a:latin typeface="Arial"/>
                <a:ea typeface="Arial"/>
                <a:cs typeface="Arial"/>
              </a:rPr>
              <a:t>US adults age 65+ in 2024</a:t>
            </a:r>
          </a:p>
        </p:txBody>
      </p:sp>
      <p:sp>
        <p:nvSpPr>
          <p:cNvPr id="6" name="">
            <a:extLst xmlns:a="http://schemas.openxmlformats.org/drawingml/2006/main">
              <a:ext uri="{FF2B5EF4-FFF2-40B4-BE49-F238E27FC236}">
                <a16:creationId xmlns:a16="http://schemas.microsoft.com/office/drawing/2014/main" id="{D4087F23-05FE-4084-BCE8-3609AE03F599}"/>
              </a:ext>
            </a:extLst>
          </p:cNvPr>
          <p:cNvSpPr>
            <a:spLocks xmlns:a="http://schemas.openxmlformats.org/drawingml/2006/main" noGrp="1"/>
          </p:cNvSpPr>
          <p:nvPr/>
        </p:nvSpPr>
        <p:spPr>
          <a:xfrm xmlns:a="http://schemas.openxmlformats.org/drawingml/2006/main">
            <a:off x="742950" y="3810000"/>
            <a:ext cx="5810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52687A"/>
                </a:solidFill>
                <a:latin typeface="Arial"/>
                <a:ea typeface="Arial"/>
                <a:cs typeface="Arial"/>
              </a:defRPr>
            </a:defPPr>
          </a:lstStyle>
          <a:p xmlns:a="http://schemas.openxmlformats.org/drawingml/2006/main">
            <a:pPr>
              <a:defRPr sz="2175" b="0">
                <a:solidFill>
                  <a:srgbClr val="52687A"/>
                </a:solidFill>
                <a:latin typeface="Arial"/>
                <a:ea typeface="Arial"/>
                <a:cs typeface="Arial"/>
              </a:defRPr>
            </a:pPr>
            <a:r>
              <a:rPr sz="2175" b="0">
                <a:solidFill>
                  <a:srgbClr val="52687A"/>
                </a:solidFill>
                <a:latin typeface="Arial"/>
                <a:ea typeface="Arial"/>
                <a:cs typeface="Arial"/>
              </a:rPr>
              <a:t>18% of the US population</a:t>
            </a:r>
          </a:p>
        </p:txBody>
      </p:sp>
      <p:sp>
        <p:nvSpPr>
          <p:cNvPr id="7" name="">
            <a:extLst xmlns:a="http://schemas.openxmlformats.org/drawingml/2006/main">
              <a:ext uri="{FF2B5EF4-FFF2-40B4-BE49-F238E27FC236}">
                <a16:creationId xmlns:a16="http://schemas.microsoft.com/office/drawing/2014/main" id="{EB2E0D7A-C016-46D0-AFB5-FB9ADD82AD31}"/>
              </a:ext>
            </a:extLst>
          </p:cNvPr>
          <p:cNvSpPr>
            <a:spLocks xmlns:a="http://schemas.openxmlformats.org/drawingml/2006/main" noGrp="1"/>
          </p:cNvSpPr>
          <p:nvPr/>
        </p:nvSpPr>
        <p:spPr>
          <a:xfrm xmlns:a="http://schemas.openxmlformats.org/drawingml/2006/main">
            <a:off x="7048500" y="1743075"/>
            <a:ext cx="4429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02A43"/>
                </a:solidFill>
                <a:latin typeface="Arial"/>
                <a:ea typeface="Arial"/>
                <a:cs typeface="Arial"/>
              </a:defRPr>
            </a:defPPr>
          </a:lstStyle>
          <a:p xmlns:a="http://schemas.openxmlformats.org/drawingml/2006/main">
            <a:pPr>
              <a:defRPr sz="2400" b="1">
                <a:solidFill>
                  <a:srgbClr val="102A43"/>
                </a:solidFill>
                <a:latin typeface="Arial"/>
                <a:ea typeface="Arial"/>
                <a:cs typeface="Arial"/>
              </a:defRPr>
            </a:pPr>
            <a:r>
              <a:rPr sz="2400" b="1">
                <a:solidFill>
                  <a:srgbClr val="102A43"/>
                </a:solidFill>
                <a:latin typeface="Arial"/>
                <a:ea typeface="Arial"/>
                <a:cs typeface="Arial"/>
              </a:rPr>
              <a:t>Revenue sizing</a:t>
            </a:r>
          </a:p>
        </p:txBody>
      </p:sp>
      <p:sp>
        <p:nvSpPr>
          <p:cNvPr id="8" name="">
            <a:extLst xmlns:a="http://schemas.openxmlformats.org/drawingml/2006/main">
              <a:ext uri="{FF2B5EF4-FFF2-40B4-BE49-F238E27FC236}">
                <a16:creationId xmlns:a16="http://schemas.microsoft.com/office/drawing/2014/main" id="{FEFA4336-BEAA-4DB1-BD8D-B4E3B96ACC17}"/>
              </a:ext>
            </a:extLst>
          </p:cNvPr>
          <p:cNvSpPr>
            <a:spLocks xmlns:a="http://schemas.openxmlformats.org/drawingml/2006/main" noGrp="1"/>
          </p:cNvSpPr>
          <p:nvPr/>
        </p:nvSpPr>
        <p:spPr>
          <a:xfrm xmlns:a="http://schemas.openxmlformats.org/drawingml/2006/main">
            <a:off x="7048500" y="2495550"/>
            <a:ext cx="4295775"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52687A"/>
                </a:solidFill>
                <a:latin typeface="Arial"/>
                <a:ea typeface="Arial"/>
                <a:cs typeface="Arial"/>
              </a:defRPr>
            </a:defPPr>
          </a:lstStyle>
          <a:p xmlns:a="http://schemas.openxmlformats.org/drawingml/2006/main">
            <a:pPr>
              <a:defRPr sz="1950" b="0">
                <a:solidFill>
                  <a:srgbClr val="52687A"/>
                </a:solidFill>
                <a:latin typeface="Arial"/>
                <a:ea typeface="Arial"/>
                <a:cs typeface="Arial"/>
              </a:defRPr>
            </a:pPr>
            <a:r>
              <a:rPr sz="1950" b="0">
                <a:solidFill>
                  <a:srgbClr val="52687A"/>
                </a:solidFill>
                <a:latin typeface="Arial"/>
                <a:ea typeface="Arial"/>
                <a:cs typeface="Arial"/>
              </a:rPr>
              <a:t>1. Select a reachable institution segment.</a:t>
            </a:r>
          </a:p>
          <a:p xmlns:a="http://schemas.openxmlformats.org/drawingml/2006/main">
            <a:r>
              <a:t/>
            </a:r>
          </a:p>
          <a:p xmlns:a="http://schemas.openxmlformats.org/drawingml/2006/main">
            <a:pPr>
              <a:defRPr sz="1950" b="0">
                <a:solidFill>
                  <a:srgbClr val="52687A"/>
                </a:solidFill>
                <a:latin typeface="Arial"/>
                <a:ea typeface="Arial"/>
                <a:cs typeface="Arial"/>
              </a:defRPr>
            </a:pPr>
            <a:r>
              <a:rPr sz="1950" b="0">
                <a:solidFill>
                  <a:srgbClr val="52687A"/>
                </a:solidFill>
                <a:latin typeface="Arial"/>
                <a:ea typeface="Arial"/>
                <a:cs typeface="Arial"/>
              </a:rPr>
              <a:t>2. Validate covered users and pricing.</a:t>
            </a:r>
          </a:p>
          <a:p xmlns:a="http://schemas.openxmlformats.org/drawingml/2006/main">
            <a:r>
              <a:t/>
            </a:r>
          </a:p>
          <a:p xmlns:a="http://schemas.openxmlformats.org/drawingml/2006/main">
            <a:pPr>
              <a:defRPr sz="1950" b="0">
                <a:solidFill>
                  <a:srgbClr val="52687A"/>
                </a:solidFill>
                <a:latin typeface="Arial"/>
                <a:ea typeface="Arial"/>
                <a:cs typeface="Arial"/>
              </a:defRPr>
            </a:pPr>
            <a:r>
              <a:rPr sz="1950" b="0">
                <a:solidFill>
                  <a:srgbClr val="52687A"/>
                </a:solidFill>
                <a:latin typeface="Arial"/>
                <a:ea typeface="Arial"/>
                <a:cs typeface="Arial"/>
              </a:rPr>
              <a:t>3. Calculate an annual revenue opportunity.</a:t>
            </a:r>
          </a:p>
        </p:txBody>
      </p:sp>
      <p:sp>
        <p:nvSpPr>
          <p:cNvPr id="9" name="">
            <a:extLst xmlns:a="http://schemas.openxmlformats.org/drawingml/2006/main">
              <a:ext uri="{FF2B5EF4-FFF2-40B4-BE49-F238E27FC236}">
                <a16:creationId xmlns:a16="http://schemas.microsoft.com/office/drawing/2014/main" id="{00313D1D-A674-4BE6-BC71-45E8DBC69D0A}"/>
              </a:ext>
            </a:extLst>
          </p:cNvPr>
          <p:cNvSpPr>
            <a:spLocks xmlns:a="http://schemas.openxmlformats.org/drawingml/2006/main" noGrp="1"/>
          </p:cNvSpPr>
          <p:nvPr/>
        </p:nvSpPr>
        <p:spPr>
          <a:xfrm xmlns:a="http://schemas.openxmlformats.org/drawingml/2006/main">
            <a:off x="742950" y="5257800"/>
            <a:ext cx="10382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102A43"/>
                </a:solidFill>
                <a:latin typeface="Arial"/>
                <a:ea typeface="Arial"/>
                <a:cs typeface="Arial"/>
              </a:defRPr>
            </a:defPPr>
          </a:lstStyle>
          <a:p xmlns:a="http://schemas.openxmlformats.org/drawingml/2006/main">
            <a:pPr>
              <a:defRPr sz="2025" b="1">
                <a:solidFill>
                  <a:srgbClr val="102A43"/>
                </a:solidFill>
                <a:latin typeface="Arial"/>
                <a:ea typeface="Arial"/>
                <a:cs typeface="Arial"/>
              </a:defRPr>
            </a:pPr>
            <a:r>
              <a:rPr sz="2025" b="1">
                <a:solidFill>
                  <a:srgbClr val="102A43"/>
                </a:solidFill>
                <a:latin typeface="Arial"/>
                <a:ea typeface="Arial"/>
                <a:cs typeface="Arial"/>
              </a:rPr>
              <a:t>Population context only. Revenue market estimate pending.</a:t>
            </a:r>
          </a:p>
        </p:txBody>
      </p:sp>
      <p:sp>
        <p:nvSpPr>
          <p:cNvPr id="10" name="">
            <a:extLst xmlns:a="http://schemas.openxmlformats.org/drawingml/2006/main">
              <a:ext uri="{FF2B5EF4-FFF2-40B4-BE49-F238E27FC236}">
                <a16:creationId xmlns:a16="http://schemas.microsoft.com/office/drawing/2014/main" id="{2F7023B5-7DDD-4B5F-8BE3-19FAC4A74FB4}"/>
              </a:ext>
            </a:extLst>
          </p:cNvPr>
          <p:cNvSpPr>
            <a:spLocks xmlns:a="http://schemas.openxmlformats.org/drawingml/2006/main" noGrp="1"/>
          </p:cNvSpPr>
          <p:nvPr/>
        </p:nvSpPr>
        <p:spPr>
          <a:xfrm xmlns:a="http://schemas.openxmlformats.org/drawingml/2006/main">
            <a:off x="742950" y="5819775"/>
            <a:ext cx="10477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2687A"/>
                </a:solidFill>
                <a:latin typeface="Arial"/>
                <a:ea typeface="Arial"/>
                <a:cs typeface="Arial"/>
              </a:defRPr>
            </a:defPPr>
          </a:lstStyle>
          <a:p xmlns:a="http://schemas.openxmlformats.org/drawingml/2006/main">
            <a:pPr>
              <a:defRPr sz="1350" b="0">
                <a:solidFill>
                  <a:srgbClr val="52687A"/>
                </a:solidFill>
                <a:latin typeface="Arial"/>
                <a:ea typeface="Arial"/>
                <a:cs typeface="Arial"/>
              </a:defRPr>
            </a:pPr>
            <a:r>
              <a:rPr sz="1350" b="0">
                <a:solidFill>
                  <a:srgbClr val="52687A"/>
                </a:solidFill>
                <a:latin typeface="Arial"/>
                <a:ea typeface="Arial"/>
                <a:cs typeface="Arial"/>
              </a:rPr>
              <a:t>Source: US Census Bureau, Vintage 2024 Population Estimates, June 26, 2025.</a:t>
            </a:r>
          </a:p>
        </p:txBody>
      </p:sp>
    </p:spTree>
    <p:extLst>
      <p:ext uri="{BB962C8B-B14F-4D97-AF65-F5344CB8AC3E}">
        <p14:creationId xmlns:p14="http://schemas.microsoft.com/office/powerpoint/2010/main" val="1131176991"/>
      </p:ext>
    </p:extLst>
  </p:cSld>
</p:sld>
</file>

<file path=ppt/slides/slide6.xml><?xml version="1.0" encoding="utf-8"?>
<p:sld xmlns:p="http://schemas.openxmlformats.org/presentationml/2006/main">
  <p:cSld>
    <p:bg>
      <p:bgPr>
        <a:solidFill xmlns:a="http://schemas.openxmlformats.org/drawingml/2006/main">
          <a:srgbClr val="FAFC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2428079-2CC3-4A7F-A2E9-5A75E770D349}"/>
              </a:ext>
            </a:extLst>
          </p:cNvPr>
          <p:cNvSpPr>
            <a:spLocks xmlns:a="http://schemas.openxmlformats.org/drawingml/2006/main" noGrp="1"/>
          </p:cNvSpPr>
          <p:nvPr/>
        </p:nvSpPr>
        <p:spPr>
          <a:xfrm xmlns:a="http://schemas.openxmlformats.org/drawingml/2006/main">
            <a:off x="685800" y="523875"/>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02A43"/>
                </a:solidFill>
                <a:latin typeface="Arial"/>
                <a:ea typeface="Arial"/>
                <a:cs typeface="Arial"/>
              </a:defRPr>
            </a:defPPr>
          </a:lstStyle>
          <a:p xmlns:a="http://schemas.openxmlformats.org/drawingml/2006/main">
            <a:pPr>
              <a:defRPr sz="3450" b="1">
                <a:solidFill>
                  <a:srgbClr val="102A43"/>
                </a:solidFill>
                <a:latin typeface="Arial"/>
                <a:ea typeface="Arial"/>
                <a:cs typeface="Arial"/>
              </a:defRPr>
            </a:pPr>
            <a:r>
              <a:rPr sz="3450" b="1">
                <a:solidFill>
                  <a:srgbClr val="102A43"/>
                </a:solidFill>
                <a:latin typeface="Arial"/>
                <a:ea typeface="Arial"/>
                <a:cs typeface="Arial"/>
              </a:rPr>
              <a:t>Existing tools and our proposed focus</a:t>
            </a:r>
          </a:p>
        </p:txBody>
      </p:sp>
      <p:sp>
        <p:nvSpPr>
          <p:cNvPr id="2" name="">
            <a:extLst xmlns:a="http://schemas.openxmlformats.org/drawingml/2006/main">
              <a:ext uri="{FF2B5EF4-FFF2-40B4-BE49-F238E27FC236}">
                <a16:creationId xmlns:a16="http://schemas.microsoft.com/office/drawing/2014/main" id="{7C956D8A-521D-493A-9B05-E82429EF340B}"/>
              </a:ext>
            </a:extLst>
          </p:cNvPr>
          <p:cNvSpPr>
            <a:spLocks xmlns:a="http://schemas.openxmlformats.org/drawingml/2006/main" noGrp="1"/>
          </p:cNvSpPr>
          <p:nvPr/>
        </p:nvSpPr>
        <p:spPr>
          <a:xfrm xmlns:a="http://schemas.openxmlformats.org/drawingml/2006/main">
            <a:off x="685800" y="6334125"/>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87A"/>
                </a:solidFill>
                <a:latin typeface="Arial"/>
                <a:ea typeface="Arial"/>
                <a:cs typeface="Arial"/>
              </a:defRPr>
            </a:defPPr>
          </a:lstStyle>
          <a:p xmlns:a="http://schemas.openxmlformats.org/drawingml/2006/main">
            <a:pPr>
              <a:defRPr sz="1200" b="0">
                <a:solidFill>
                  <a:srgbClr val="52687A"/>
                </a:solidFill>
                <a:latin typeface="Arial"/>
                <a:ea typeface="Arial"/>
                <a:cs typeface="Arial"/>
              </a:defRPr>
            </a:pPr>
            <a:r>
              <a:rPr sz="1200" b="0">
                <a:solidFill>
                  <a:srgbClr val="52687A"/>
                </a:solidFill>
                <a:latin typeface="Arial"/>
                <a:ea typeface="Arial"/>
                <a:cs typeface="Arial"/>
              </a:rPr>
              <a:t>ScamCatch  /  Application draft  /  October 8, 2026</a:t>
            </a:r>
          </a:p>
        </p:txBody>
      </p:sp>
      <p:sp>
        <p:nvSpPr>
          <p:cNvPr id="3" name="">
            <a:extLst xmlns:a="http://schemas.openxmlformats.org/drawingml/2006/main">
              <a:ext uri="{FF2B5EF4-FFF2-40B4-BE49-F238E27FC236}">
                <a16:creationId xmlns:a16="http://schemas.microsoft.com/office/drawing/2014/main" id="{193B4200-A3EB-45F0-8D92-DF7DDAC7D953}"/>
              </a:ext>
            </a:extLst>
          </p:cNvPr>
          <p:cNvSpPr>
            <a:spLocks xmlns:a="http://schemas.openxmlformats.org/drawingml/2006/main" noGrp="1"/>
          </p:cNvSpPr>
          <p:nvPr/>
        </p:nvSpPr>
        <p:spPr>
          <a:xfrm xmlns:a="http://schemas.openxmlformats.org/drawingml/2006/main">
            <a:off x="11049000" y="6315075"/>
            <a:ext cx="428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87A"/>
                </a:solidFill>
                <a:latin typeface="Arial"/>
                <a:ea typeface="Arial"/>
                <a:cs typeface="Arial"/>
              </a:defRPr>
            </a:defPPr>
          </a:lstStyle>
          <a:p xmlns:a="http://schemas.openxmlformats.org/drawingml/2006/main">
            <a:pPr>
              <a:defRPr sz="1275" b="0">
                <a:solidFill>
                  <a:srgbClr val="52687A"/>
                </a:solidFill>
                <a:latin typeface="Arial"/>
                <a:ea typeface="Arial"/>
                <a:cs typeface="Arial"/>
              </a:defRPr>
            </a:pPr>
            <a:r>
              <a:rPr sz="1275" b="0">
                <a:solidFill>
                  <a:srgbClr val="52687A"/>
                </a:solidFill>
                <a:latin typeface="Arial"/>
                <a:ea typeface="Arial"/>
                <a:cs typeface="Arial"/>
              </a:rPr>
              <a:t>06</a:t>
            </a:r>
          </a:p>
        </p:txBody>
      </p:sp>
      <p:graphicFrame>
        <p:nvGraphicFramePr>
          <p:cNvPr id="4" name="">
            <a:extLst xmlns:a="http://schemas.openxmlformats.org/drawingml/2006/main">
              <a:ext uri="{FF2B5EF4-FFF2-40B4-BE49-F238E27FC236}">
                <a16:creationId xmlns:a16="http://schemas.microsoft.com/office/drawing/2014/main" id="{F2D35525-64A2-4207-9664-FB79729F09E7}"/>
              </a:ext>
            </a:extLst>
          </p:cNvPr>
          <p:cNvGraphicFramePr/>
          <p:nvPr/>
        </p:nvGraphicFramePr>
        <p:xfrm>
          <a:off xmlns:a="http://schemas.openxmlformats.org/drawingml/2006/main" x="685800" y="1743075"/>
          <a:ext xmlns:a="http://schemas.openxmlformats.org/drawingml/2006/main" cx="10820400" cy="3286125"/>
        </p:xfrm>
        <a:graphic xmlns:a="http://schemas.openxmlformats.org/drawingml/2006/main">
          <a:graphicData uri="http://schemas.openxmlformats.org/drawingml/2006/table">
            <a:tbl>
              <a:tblPr/>
              <a:tblGrid>
                <a:gridCol w="2190750"/>
                <a:gridCol w="8629650"/>
              </a:tblGrid>
              <a:tr h="821531">
                <a:tc>
                  <a:txBody>
                    <a:bodyPr/>
                    <a:lstStyle/>
                    <a:p>
                      <a:r>
                        <a:rPr sz="1875" b="1">
                          <a:solidFill>
                            <a:srgbClr val="FFFFFF"/>
                          </a:solidFill>
                          <a:latin typeface="Arial"/>
                          <a:ea typeface="Arial"/>
                          <a:cs typeface="Arial"/>
                        </a:rPr>
                        <a:t>Product</a:t>
                      </a:r>
                    </a:p>
                  </a:txBody>
                  <a:tcPr marL="190500" marR="190500" marT="161925" marB="123825">
                    <a:solidFill>
                      <a:srgbClr val="102A43"/>
                    </a:solidFill>
                  </a:tcPr>
                </a:tc>
                <a:tc>
                  <a:txBody>
                    <a:bodyPr/>
                    <a:lstStyle/>
                    <a:p>
                      <a:r>
                        <a:rPr sz="1875" b="1">
                          <a:solidFill>
                            <a:srgbClr val="FFFFFF"/>
                          </a:solidFill>
                          <a:latin typeface="Arial"/>
                          <a:ea typeface="Arial"/>
                          <a:cs typeface="Arial"/>
                        </a:rPr>
                        <a:t>Current or proposed focus</a:t>
                      </a:r>
                    </a:p>
                  </a:txBody>
                  <a:tcPr marL="190500" marR="190500" marT="161925" marB="123825">
                    <a:solidFill>
                      <a:srgbClr val="102A43"/>
                    </a:solidFill>
                  </a:tcPr>
                </a:tc>
              </a:tr>
              <a:tr h="821531">
                <a:tc>
                  <a:txBody>
                    <a:bodyPr/>
                    <a:lstStyle/>
                    <a:p>
                      <a:r>
                        <a:rPr sz="1875">
                          <a:solidFill>
                            <a:srgbClr val="102A43"/>
                          </a:solidFill>
                          <a:latin typeface="Arial"/>
                          <a:ea typeface="Arial"/>
                          <a:cs typeface="Arial"/>
                        </a:rPr>
                        <a:t>Carefull</a:t>
                      </a:r>
                    </a:p>
                  </a:txBody>
                  <a:tcPr marL="190500" marR="190500" marT="161925" marB="123825">
                    <a:solidFill>
                      <a:srgbClr val="FAFCFF"/>
                    </a:solidFill>
                  </a:tcPr>
                </a:tc>
                <a:tc>
                  <a:txBody>
                    <a:bodyPr/>
                    <a:lstStyle/>
                    <a:p>
                      <a:r>
                        <a:rPr sz="1875">
                          <a:solidFill>
                            <a:srgbClr val="102A43"/>
                          </a:solidFill>
                          <a:latin typeface="Arial"/>
                          <a:ea typeface="Arial"/>
                          <a:cs typeface="Arial"/>
                        </a:rPr>
                        <a:t>Financial monitoring and alerts.</a:t>
                      </a:r>
                    </a:p>
                    <a:p>
                      <a:r>
                        <a:rPr sz="1875">
                          <a:solidFill>
                            <a:srgbClr val="102A43"/>
                          </a:solidFill>
                          <a:latin typeface="Arial"/>
                          <a:ea typeface="Arial"/>
                          <a:cs typeface="Arial"/>
                        </a:rPr>
                        <a:t>View-only support for trusted contacts.</a:t>
                      </a:r>
                    </a:p>
                  </a:txBody>
                  <a:tcPr marL="190500" marR="190500" marT="161925" marB="123825">
                    <a:solidFill>
                      <a:srgbClr val="FAFCFF"/>
                    </a:solidFill>
                  </a:tcPr>
                </a:tc>
              </a:tr>
              <a:tr h="821531">
                <a:tc>
                  <a:txBody>
                    <a:bodyPr/>
                    <a:lstStyle/>
                    <a:p>
                      <a:r>
                        <a:rPr sz="1875">
                          <a:solidFill>
                            <a:srgbClr val="102A43"/>
                          </a:solidFill>
                          <a:latin typeface="Arial"/>
                          <a:ea typeface="Arial"/>
                          <a:cs typeface="Arial"/>
                        </a:rPr>
                        <a:t>ZoraSafe</a:t>
                      </a:r>
                    </a:p>
                  </a:txBody>
                  <a:tcPr marL="190500" marR="190500" marT="161925" marB="123825">
                    <a:solidFill>
                      <a:srgbClr val="FAFCFF"/>
                    </a:solidFill>
                  </a:tcPr>
                </a:tc>
                <a:tc>
                  <a:txBody>
                    <a:bodyPr/>
                    <a:lstStyle/>
                    <a:p>
                      <a:r>
                        <a:rPr sz="1875">
                          <a:solidFill>
                            <a:srgbClr val="102A43"/>
                          </a:solidFill>
                          <a:latin typeface="Arial"/>
                          <a:ea typeface="Arial"/>
                          <a:cs typeface="Arial"/>
                        </a:rPr>
                        <a:t>Suspicious-content checks.</a:t>
                      </a:r>
                    </a:p>
                    <a:p>
                      <a:r>
                        <a:rPr sz="1875">
                          <a:solidFill>
                            <a:srgbClr val="102A43"/>
                          </a:solidFill>
                          <a:latin typeface="Arial"/>
                          <a:ea typeface="Arial"/>
                          <a:cs typeface="Arial"/>
                        </a:rPr>
                        <a:t>Risk explanations and next steps.</a:t>
                      </a:r>
                    </a:p>
                  </a:txBody>
                  <a:tcPr marL="190500" marR="190500" marT="161925" marB="123825">
                    <a:solidFill>
                      <a:srgbClr val="FAFCFF"/>
                    </a:solidFill>
                  </a:tcPr>
                </a:tc>
              </a:tr>
              <a:tr h="821531">
                <a:tc>
                  <a:txBody>
                    <a:bodyPr/>
                    <a:lstStyle/>
                    <a:p>
                      <a:r>
                        <a:rPr sz="1875">
                          <a:solidFill>
                            <a:srgbClr val="102A43"/>
                          </a:solidFill>
                          <a:latin typeface="Arial"/>
                          <a:ea typeface="Arial"/>
                          <a:cs typeface="Arial"/>
                        </a:rPr>
                        <a:t>ScamCatch</a:t>
                      </a:r>
                    </a:p>
                  </a:txBody>
                  <a:tcPr marL="190500" marR="190500" marT="161925" marB="123825">
                    <a:solidFill>
                      <a:srgbClr val="FAFCFF"/>
                    </a:solidFill>
                  </a:tcPr>
                </a:tc>
                <a:tc>
                  <a:txBody>
                    <a:bodyPr/>
                    <a:lstStyle/>
                    <a:p>
                      <a:r>
                        <a:rPr sz="1875">
                          <a:solidFill>
                            <a:srgbClr val="102A43"/>
                          </a:solidFill>
                          <a:latin typeface="Arial"/>
                          <a:ea typeface="Arial"/>
                          <a:cs typeface="Arial"/>
                        </a:rPr>
                        <a:t>Proposed voice conversation after a bank signal.</a:t>
                      </a:r>
                    </a:p>
                    <a:p>
                      <a:r>
                        <a:rPr sz="1875">
                          <a:solidFill>
                            <a:srgbClr val="102A43"/>
                          </a:solidFill>
                          <a:latin typeface="Arial"/>
                          <a:ea typeface="Arial"/>
                          <a:cs typeface="Arial"/>
                        </a:rPr>
                        <a:t>Android voice prototype exists in development.</a:t>
                      </a:r>
                    </a:p>
                  </a:txBody>
                  <a:tcPr marL="190500" marR="190500" marT="161925" marB="123825">
                    <a:solidFill>
                      <a:srgbClr val="FAFCFF"/>
                    </a:solidFill>
                  </a:tcPr>
                </a:tc>
              </a:tr>
            </a:tbl>
          </a:graphicData>
        </a:graphic>
      </p:graphicFrame>
      <p:sp>
        <p:nvSpPr>
          <p:cNvPr id="5" name="">
            <a:extLst xmlns:a="http://schemas.openxmlformats.org/drawingml/2006/main">
              <a:ext uri="{FF2B5EF4-FFF2-40B4-BE49-F238E27FC236}">
                <a16:creationId xmlns:a16="http://schemas.microsoft.com/office/drawing/2014/main" id="{2AEA879E-6160-4F09-92BC-229930A9403F}"/>
              </a:ext>
            </a:extLst>
          </p:cNvPr>
          <p:cNvSpPr>
            <a:spLocks xmlns:a="http://schemas.openxmlformats.org/drawingml/2006/main" noGrp="1"/>
          </p:cNvSpPr>
          <p:nvPr/>
        </p:nvSpPr>
        <p:spPr>
          <a:xfrm xmlns:a="http://schemas.openxmlformats.org/drawingml/2006/main">
            <a:off x="685800" y="5372100"/>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2563EB"/>
                </a:solidFill>
                <a:latin typeface="Arial"/>
                <a:ea typeface="Arial"/>
                <a:cs typeface="Arial"/>
              </a:defRPr>
            </a:defPPr>
          </a:lstStyle>
          <a:p xmlns:a="http://schemas.openxmlformats.org/drawingml/2006/main">
            <a:pPr>
              <a:defRPr sz="2175" b="1">
                <a:solidFill>
                  <a:srgbClr val="2563EB"/>
                </a:solidFill>
                <a:latin typeface="Arial"/>
                <a:ea typeface="Arial"/>
                <a:cs typeface="Arial"/>
              </a:defRPr>
            </a:pPr>
            <a:r>
              <a:rPr sz="2175" b="1">
                <a:solidFill>
                  <a:srgbClr val="2563EB"/>
                </a:solidFill>
                <a:latin typeface="Arial"/>
                <a:ea typeface="Arial"/>
                <a:cs typeface="Arial"/>
              </a:rPr>
              <a:t>The pilot must establish whether the conversation improves decisions.</a:t>
            </a:r>
          </a:p>
        </p:txBody>
      </p:sp>
    </p:spTree>
    <p:extLst>
      <p:ext uri="{BB962C8B-B14F-4D97-AF65-F5344CB8AC3E}">
        <p14:creationId xmlns:p14="http://schemas.microsoft.com/office/powerpoint/2010/main" val="336526531"/>
      </p:ext>
    </p:extLst>
  </p:cSld>
</p:sld>
</file>

<file path=ppt/slides/slide7.xml><?xml version="1.0" encoding="utf-8"?>
<p:sld xmlns:p="http://schemas.openxmlformats.org/presentationml/2006/main">
  <p:cSld>
    <p:bg>
      <p:bgPr>
        <a:solidFill xmlns:a="http://schemas.openxmlformats.org/drawingml/2006/main">
          <a:srgbClr val="FAFC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6931E3D-DD98-4332-B019-C5C9C8A9B429}"/>
              </a:ext>
            </a:extLst>
          </p:cNvPr>
          <p:cNvSpPr>
            <a:spLocks xmlns:a="http://schemas.openxmlformats.org/drawingml/2006/main" noGrp="1"/>
          </p:cNvSpPr>
          <p:nvPr/>
        </p:nvSpPr>
        <p:spPr>
          <a:xfrm xmlns:a="http://schemas.openxmlformats.org/drawingml/2006/main">
            <a:off x="685800" y="523875"/>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02A43"/>
                </a:solidFill>
                <a:latin typeface="Arial"/>
                <a:ea typeface="Arial"/>
                <a:cs typeface="Arial"/>
              </a:defRPr>
            </a:defPPr>
          </a:lstStyle>
          <a:p xmlns:a="http://schemas.openxmlformats.org/drawingml/2006/main">
            <a:pPr>
              <a:defRPr sz="3450" b="1">
                <a:solidFill>
                  <a:srgbClr val="102A43"/>
                </a:solidFill>
                <a:latin typeface="Arial"/>
                <a:ea typeface="Arial"/>
                <a:cs typeface="Arial"/>
              </a:defRPr>
            </a:pPr>
            <a:r>
              <a:rPr sz="3450" b="1">
                <a:solidFill>
                  <a:srgbClr val="102A43"/>
                </a:solidFill>
                <a:latin typeface="Arial"/>
                <a:ea typeface="Arial"/>
                <a:cs typeface="Arial"/>
              </a:rPr>
              <a:t>Prototype evidence and traction</a:t>
            </a:r>
          </a:p>
        </p:txBody>
      </p:sp>
      <p:sp>
        <p:nvSpPr>
          <p:cNvPr id="2" name="">
            <a:extLst xmlns:a="http://schemas.openxmlformats.org/drawingml/2006/main">
              <a:ext uri="{FF2B5EF4-FFF2-40B4-BE49-F238E27FC236}">
                <a16:creationId xmlns:a16="http://schemas.microsoft.com/office/drawing/2014/main" id="{02E84646-4E4C-4511-A260-6D7A0B964A10}"/>
              </a:ext>
            </a:extLst>
          </p:cNvPr>
          <p:cNvSpPr>
            <a:spLocks xmlns:a="http://schemas.openxmlformats.org/drawingml/2006/main" noGrp="1"/>
          </p:cNvSpPr>
          <p:nvPr/>
        </p:nvSpPr>
        <p:spPr>
          <a:xfrm xmlns:a="http://schemas.openxmlformats.org/drawingml/2006/main">
            <a:off x="685800" y="6334125"/>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87A"/>
                </a:solidFill>
                <a:latin typeface="Arial"/>
                <a:ea typeface="Arial"/>
                <a:cs typeface="Arial"/>
              </a:defRPr>
            </a:defPPr>
          </a:lstStyle>
          <a:p xmlns:a="http://schemas.openxmlformats.org/drawingml/2006/main">
            <a:pPr>
              <a:defRPr sz="1200" b="0">
                <a:solidFill>
                  <a:srgbClr val="52687A"/>
                </a:solidFill>
                <a:latin typeface="Arial"/>
                <a:ea typeface="Arial"/>
                <a:cs typeface="Arial"/>
              </a:defRPr>
            </a:pPr>
            <a:r>
              <a:rPr sz="1200" b="0">
                <a:solidFill>
                  <a:srgbClr val="52687A"/>
                </a:solidFill>
                <a:latin typeface="Arial"/>
                <a:ea typeface="Arial"/>
                <a:cs typeface="Arial"/>
              </a:rPr>
              <a:t>ScamCatch  /  Application draft  /  October 8, 2026</a:t>
            </a:r>
          </a:p>
        </p:txBody>
      </p:sp>
      <p:sp>
        <p:nvSpPr>
          <p:cNvPr id="3" name="">
            <a:extLst xmlns:a="http://schemas.openxmlformats.org/drawingml/2006/main">
              <a:ext uri="{FF2B5EF4-FFF2-40B4-BE49-F238E27FC236}">
                <a16:creationId xmlns:a16="http://schemas.microsoft.com/office/drawing/2014/main" id="{3D42E396-B877-49EE-B4F2-C277377E0CB0}"/>
              </a:ext>
            </a:extLst>
          </p:cNvPr>
          <p:cNvSpPr>
            <a:spLocks xmlns:a="http://schemas.openxmlformats.org/drawingml/2006/main" noGrp="1"/>
          </p:cNvSpPr>
          <p:nvPr/>
        </p:nvSpPr>
        <p:spPr>
          <a:xfrm xmlns:a="http://schemas.openxmlformats.org/drawingml/2006/main">
            <a:off x="11049000" y="6315075"/>
            <a:ext cx="428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87A"/>
                </a:solidFill>
                <a:latin typeface="Arial"/>
                <a:ea typeface="Arial"/>
                <a:cs typeface="Arial"/>
              </a:defRPr>
            </a:defPPr>
          </a:lstStyle>
          <a:p xmlns:a="http://schemas.openxmlformats.org/drawingml/2006/main">
            <a:pPr>
              <a:defRPr sz="1275" b="0">
                <a:solidFill>
                  <a:srgbClr val="52687A"/>
                </a:solidFill>
                <a:latin typeface="Arial"/>
                <a:ea typeface="Arial"/>
                <a:cs typeface="Arial"/>
              </a:defRPr>
            </a:pPr>
            <a:r>
              <a:rPr sz="1275" b="0">
                <a:solidFill>
                  <a:srgbClr val="52687A"/>
                </a:solidFill>
                <a:latin typeface="Arial"/>
                <a:ea typeface="Arial"/>
                <a:cs typeface="Arial"/>
              </a:rPr>
              <a:t>07</a:t>
            </a:r>
          </a:p>
        </p:txBody>
      </p:sp>
      <p:sp>
        <p:nvSpPr>
          <p:cNvPr id="4" name="">
            <a:extLst xmlns:a="http://schemas.openxmlformats.org/drawingml/2006/main">
              <a:ext uri="{FF2B5EF4-FFF2-40B4-BE49-F238E27FC236}">
                <a16:creationId xmlns:a16="http://schemas.microsoft.com/office/drawing/2014/main" id="{46FF57FF-18BF-4978-BE64-7F509BEDF8EF}"/>
              </a:ext>
            </a:extLst>
          </p:cNvPr>
          <p:cNvSpPr>
            <a:spLocks xmlns:a="http://schemas.openxmlformats.org/drawingml/2006/main" noGrp="1"/>
          </p:cNvSpPr>
          <p:nvPr/>
        </p:nvSpPr>
        <p:spPr>
          <a:xfrm xmlns:a="http://schemas.openxmlformats.org/drawingml/2006/main">
            <a:off x="685800" y="1609725"/>
            <a:ext cx="523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102A43"/>
                </a:solidFill>
                <a:latin typeface="Arial"/>
                <a:ea typeface="Arial"/>
                <a:cs typeface="Arial"/>
              </a:defRPr>
            </a:defPPr>
          </a:lstStyle>
          <a:p xmlns:a="http://schemas.openxmlformats.org/drawingml/2006/main">
            <a:pPr>
              <a:defRPr sz="2250" b="1">
                <a:solidFill>
                  <a:srgbClr val="102A43"/>
                </a:solidFill>
                <a:latin typeface="Arial"/>
                <a:ea typeface="Arial"/>
                <a:cs typeface="Arial"/>
              </a:defRPr>
            </a:pPr>
            <a:r>
              <a:rPr sz="2250" b="1">
                <a:solidFill>
                  <a:srgbClr val="102A43"/>
                </a:solidFill>
                <a:latin typeface="Arial"/>
                <a:ea typeface="Arial"/>
                <a:cs typeface="Arial"/>
              </a:rPr>
              <a:t>Implemented in development</a:t>
            </a:r>
          </a:p>
        </p:txBody>
      </p:sp>
      <p:sp>
        <p:nvSpPr>
          <p:cNvPr id="5" name="">
            <a:extLst xmlns:a="http://schemas.openxmlformats.org/drawingml/2006/main">
              <a:ext uri="{FF2B5EF4-FFF2-40B4-BE49-F238E27FC236}">
                <a16:creationId xmlns:a16="http://schemas.microsoft.com/office/drawing/2014/main" id="{4E2BBADD-26E1-4ABB-AB4A-C40FE456C42F}"/>
              </a:ext>
            </a:extLst>
          </p:cNvPr>
          <p:cNvSpPr>
            <a:spLocks xmlns:a="http://schemas.openxmlformats.org/drawingml/2006/main" noGrp="1"/>
          </p:cNvSpPr>
          <p:nvPr/>
        </p:nvSpPr>
        <p:spPr>
          <a:xfrm xmlns:a="http://schemas.openxmlformats.org/drawingml/2006/main">
            <a:off x="685800" y="2324100"/>
            <a:ext cx="52482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52687A"/>
                </a:solidFill>
                <a:latin typeface="Arial"/>
                <a:ea typeface="Arial"/>
                <a:cs typeface="Arial"/>
              </a:defRPr>
            </a:defPPr>
          </a:lstStyle>
          <a:p xmlns:a="http://schemas.openxmlformats.org/drawingml/2006/main">
            <a:pPr>
              <a:defRPr sz="2100" b="0">
                <a:solidFill>
                  <a:srgbClr val="52687A"/>
                </a:solidFill>
                <a:latin typeface="Arial"/>
                <a:ea typeface="Arial"/>
                <a:cs typeface="Arial"/>
              </a:defRPr>
            </a:pPr>
            <a:r>
              <a:rPr sz="2100" b="0">
                <a:solidFill>
                  <a:srgbClr val="52687A"/>
                </a:solidFill>
                <a:latin typeface="Arial"/>
                <a:ea typeface="Arial"/>
                <a:cs typeface="Arial"/>
              </a:rPr>
              <a:t>1. Android screen checks with consent.</a:t>
            </a:r>
          </a:p>
          <a:p xmlns:a="http://schemas.openxmlformats.org/drawingml/2006/main">
            <a:r>
              <a:t/>
            </a:r>
          </a:p>
          <a:p xmlns:a="http://schemas.openxmlformats.org/drawingml/2006/main">
            <a:pPr>
              <a:defRPr sz="2100" b="0">
                <a:solidFill>
                  <a:srgbClr val="52687A"/>
                </a:solidFill>
                <a:latin typeface="Arial"/>
                <a:ea typeface="Arial"/>
                <a:cs typeface="Arial"/>
              </a:defRPr>
            </a:pPr>
            <a:r>
              <a:rPr sz="2100" b="0">
                <a:solidFill>
                  <a:srgbClr val="52687A"/>
                </a:solidFill>
                <a:latin typeface="Arial"/>
                <a:ea typeface="Arial"/>
                <a:cs typeface="Arial"/>
              </a:rPr>
              <a:t>2. A warning after a flagged check.</a:t>
            </a:r>
          </a:p>
          <a:p xmlns:a="http://schemas.openxmlformats.org/drawingml/2006/main">
            <a:r>
              <a:t/>
            </a:r>
          </a:p>
          <a:p xmlns:a="http://schemas.openxmlformats.org/drawingml/2006/main">
            <a:pPr>
              <a:defRPr sz="2100" b="0">
                <a:solidFill>
                  <a:srgbClr val="52687A"/>
                </a:solidFill>
                <a:latin typeface="Arial"/>
                <a:ea typeface="Arial"/>
                <a:cs typeface="Arial"/>
              </a:defRPr>
            </a:pPr>
            <a:r>
              <a:rPr sz="2100" b="0">
                <a:solidFill>
                  <a:srgbClr val="52687A"/>
                </a:solidFill>
                <a:latin typeface="Arial"/>
                <a:ea typeface="Arial"/>
                <a:cs typeface="Arial"/>
              </a:rPr>
              <a:t>3. An AI voice conversation after setup.</a:t>
            </a:r>
          </a:p>
        </p:txBody>
      </p:sp>
      <p:sp>
        <p:nvSpPr>
          <p:cNvPr id="6" name="">
            <a:extLst xmlns:a="http://schemas.openxmlformats.org/drawingml/2006/main">
              <a:ext uri="{FF2B5EF4-FFF2-40B4-BE49-F238E27FC236}">
                <a16:creationId xmlns:a16="http://schemas.microsoft.com/office/drawing/2014/main" id="{DCAF0A51-5AA5-44CB-A2BF-3F613713138F}"/>
              </a:ext>
            </a:extLst>
          </p:cNvPr>
          <p:cNvSpPr>
            <a:spLocks xmlns:a="http://schemas.openxmlformats.org/drawingml/2006/main" noGrp="1"/>
          </p:cNvSpPr>
          <p:nvPr/>
        </p:nvSpPr>
        <p:spPr>
          <a:xfrm xmlns:a="http://schemas.openxmlformats.org/drawingml/2006/main">
            <a:off x="6810375" y="1609725"/>
            <a:ext cx="46672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102A43"/>
                </a:solidFill>
                <a:latin typeface="Arial"/>
                <a:ea typeface="Arial"/>
                <a:cs typeface="Arial"/>
              </a:defRPr>
            </a:defPPr>
          </a:lstStyle>
          <a:p xmlns:a="http://schemas.openxmlformats.org/drawingml/2006/main">
            <a:pPr>
              <a:defRPr sz="2250" b="1">
                <a:solidFill>
                  <a:srgbClr val="102A43"/>
                </a:solidFill>
                <a:latin typeface="Arial"/>
                <a:ea typeface="Arial"/>
                <a:cs typeface="Arial"/>
              </a:defRPr>
            </a:pPr>
            <a:r>
              <a:rPr sz="2250" b="1">
                <a:solidFill>
                  <a:srgbClr val="102A43"/>
                </a:solidFill>
                <a:latin typeface="Arial"/>
                <a:ea typeface="Arial"/>
                <a:cs typeface="Arial"/>
              </a:rPr>
              <a:t>Early development</a:t>
            </a:r>
          </a:p>
        </p:txBody>
      </p:sp>
      <p:sp>
        <p:nvSpPr>
          <p:cNvPr id="7" name="">
            <a:extLst xmlns:a="http://schemas.openxmlformats.org/drawingml/2006/main">
              <a:ext uri="{FF2B5EF4-FFF2-40B4-BE49-F238E27FC236}">
                <a16:creationId xmlns:a16="http://schemas.microsoft.com/office/drawing/2014/main" id="{B77671DD-D91F-4607-B7A2-4BC88CD31E23}"/>
              </a:ext>
            </a:extLst>
          </p:cNvPr>
          <p:cNvSpPr>
            <a:spLocks xmlns:a="http://schemas.openxmlformats.org/drawingml/2006/main" noGrp="1"/>
          </p:cNvSpPr>
          <p:nvPr/>
        </p:nvSpPr>
        <p:spPr>
          <a:xfrm xmlns:a="http://schemas.openxmlformats.org/drawingml/2006/main">
            <a:off x="6810375" y="2324100"/>
            <a:ext cx="465772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52687A"/>
                </a:solidFill>
                <a:latin typeface="Arial"/>
                <a:ea typeface="Arial"/>
                <a:cs typeface="Arial"/>
              </a:defRPr>
            </a:defPPr>
          </a:lstStyle>
          <a:p xmlns:a="http://schemas.openxmlformats.org/drawingml/2006/main">
            <a:pPr>
              <a:defRPr sz="2100" b="0">
                <a:solidFill>
                  <a:srgbClr val="52687A"/>
                </a:solidFill>
                <a:latin typeface="Arial"/>
                <a:ea typeface="Arial"/>
                <a:cs typeface="Arial"/>
              </a:defRPr>
            </a:pPr>
            <a:r>
              <a:rPr sz="2100" b="0">
                <a:solidFill>
                  <a:srgbClr val="52687A"/>
                </a:solidFill>
                <a:latin typeface="Arial"/>
                <a:ea typeface="Arial"/>
                <a:cs typeface="Arial"/>
              </a:rPr>
              <a:t>1. 0 users and 0 formal research studies.</a:t>
            </a:r>
          </a:p>
          <a:p xmlns:a="http://schemas.openxmlformats.org/drawingml/2006/main">
            <a:r>
              <a:t/>
            </a:r>
          </a:p>
          <a:p xmlns:a="http://schemas.openxmlformats.org/drawingml/2006/main">
            <a:pPr>
              <a:defRPr sz="2100" b="0">
                <a:solidFill>
                  <a:srgbClr val="52687A"/>
                </a:solidFill>
                <a:latin typeface="Arial"/>
                <a:ea typeface="Arial"/>
                <a:cs typeface="Arial"/>
              </a:defRPr>
            </a:pPr>
            <a:r>
              <a:rPr sz="2100" b="0">
                <a:solidFill>
                  <a:srgbClr val="52687A"/>
                </a:solidFill>
                <a:latin typeface="Arial"/>
                <a:ea typeface="Arial"/>
                <a:cs typeface="Arial"/>
              </a:rPr>
              <a:t>2. 0 pilots and 0 contracts.</a:t>
            </a:r>
          </a:p>
          <a:p xmlns:a="http://schemas.openxmlformats.org/drawingml/2006/main">
            <a:r>
              <a:t/>
            </a:r>
          </a:p>
          <a:p xmlns:a="http://schemas.openxmlformats.org/drawingml/2006/main">
            <a:pPr>
              <a:defRPr sz="2100" b="0">
                <a:solidFill>
                  <a:srgbClr val="52687A"/>
                </a:solidFill>
                <a:latin typeface="Arial"/>
                <a:ea typeface="Arial"/>
                <a:cs typeface="Arial"/>
              </a:defRPr>
            </a:pPr>
            <a:r>
              <a:rPr sz="2100" b="0">
                <a:solidFill>
                  <a:srgbClr val="52687A"/>
                </a:solidFill>
                <a:latin typeface="Arial"/>
                <a:ea typeface="Arial"/>
                <a:cs typeface="Arial"/>
              </a:rPr>
              <a:t>3. 0 customer commitments.</a:t>
            </a:r>
          </a:p>
        </p:txBody>
      </p:sp>
      <p:sp>
        <p:nvSpPr>
          <p:cNvPr id="8" name="">
            <a:extLst xmlns:a="http://schemas.openxmlformats.org/drawingml/2006/main">
              <a:ext uri="{FF2B5EF4-FFF2-40B4-BE49-F238E27FC236}">
                <a16:creationId xmlns:a16="http://schemas.microsoft.com/office/drawing/2014/main" id="{42CA5029-97B3-41D7-9799-2BD7B9AB4161}"/>
              </a:ext>
            </a:extLst>
          </p:cNvPr>
          <p:cNvSpPr>
            <a:spLocks xmlns:a="http://schemas.openxmlformats.org/drawingml/2006/main" noGrp="1"/>
          </p:cNvSpPr>
          <p:nvPr/>
        </p:nvSpPr>
        <p:spPr>
          <a:xfrm xmlns:a="http://schemas.openxmlformats.org/drawingml/2006/main">
            <a:off x="685800" y="5410200"/>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2563EB"/>
                </a:solidFill>
                <a:latin typeface="Arial"/>
                <a:ea typeface="Arial"/>
                <a:cs typeface="Arial"/>
              </a:defRPr>
            </a:defPPr>
          </a:lstStyle>
          <a:p xmlns:a="http://schemas.openxmlformats.org/drawingml/2006/main">
            <a:pPr>
              <a:defRPr sz="2025" b="1">
                <a:solidFill>
                  <a:srgbClr val="2563EB"/>
                </a:solidFill>
                <a:latin typeface="Arial"/>
                <a:ea typeface="Arial"/>
                <a:cs typeface="Arial"/>
              </a:defRPr>
            </a:pPr>
            <a:r>
              <a:rPr sz="2025" b="1">
                <a:solidFill>
                  <a:srgbClr val="2563EB"/>
                </a:solidFill>
                <a:latin typeface="Arial"/>
                <a:ea typeface="Arial"/>
                <a:cs typeface="Arial"/>
              </a:rPr>
              <a:t>Bank triggers and alerts to institutions or trusted contacts remain planned.</a:t>
            </a:r>
          </a:p>
        </p:txBody>
      </p:sp>
    </p:spTree>
    <p:extLst>
      <p:ext uri="{BB962C8B-B14F-4D97-AF65-F5344CB8AC3E}">
        <p14:creationId xmlns:p14="http://schemas.microsoft.com/office/powerpoint/2010/main" val="814061263"/>
      </p:ext>
    </p:extLst>
  </p:cSld>
</p:sld>
</file>

<file path=ppt/slides/slide8.xml><?xml version="1.0" encoding="utf-8"?>
<p:sld xmlns:p="http://schemas.openxmlformats.org/presentationml/2006/main">
  <p:cSld>
    <p:bg>
      <p:bgPr>
        <a:solidFill xmlns:a="http://schemas.openxmlformats.org/drawingml/2006/main">
          <a:srgbClr val="102A43"/>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B2CBAA2-116F-4631-A155-1DCE70628D45}"/>
              </a:ext>
            </a:extLst>
          </p:cNvPr>
          <p:cNvSpPr>
            <a:spLocks xmlns:a="http://schemas.openxmlformats.org/drawingml/2006/main" noGrp="1"/>
          </p:cNvSpPr>
          <p:nvPr/>
        </p:nvSpPr>
        <p:spPr>
          <a:xfrm xmlns:a="http://schemas.openxmlformats.org/drawingml/2006/main">
            <a:off x="685800" y="523875"/>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FFFFFF"/>
                </a:solidFill>
                <a:latin typeface="Arial"/>
                <a:ea typeface="Arial"/>
                <a:cs typeface="Arial"/>
              </a:defRPr>
            </a:defPPr>
          </a:lstStyle>
          <a:p xmlns:a="http://schemas.openxmlformats.org/drawingml/2006/main">
            <a:pPr>
              <a:defRPr sz="3450" b="1">
                <a:solidFill>
                  <a:srgbClr val="FFFFFF"/>
                </a:solidFill>
                <a:latin typeface="Arial"/>
                <a:ea typeface="Arial"/>
                <a:cs typeface="Arial"/>
              </a:defRPr>
            </a:pPr>
            <a:r>
              <a:rPr sz="3450" b="1">
                <a:solidFill>
                  <a:srgbClr val="FFFFFF"/>
                </a:solidFill>
                <a:latin typeface="Arial"/>
                <a:ea typeface="Arial"/>
                <a:cs typeface="Arial"/>
              </a:rPr>
              <a:t>Proposed revenue model</a:t>
            </a:r>
          </a:p>
        </p:txBody>
      </p:sp>
      <p:sp>
        <p:nvSpPr>
          <p:cNvPr id="2" name="">
            <a:extLst xmlns:a="http://schemas.openxmlformats.org/drawingml/2006/main">
              <a:ext uri="{FF2B5EF4-FFF2-40B4-BE49-F238E27FC236}">
                <a16:creationId xmlns:a16="http://schemas.microsoft.com/office/drawing/2014/main" id="{D352520C-8D5D-4934-BE21-CC0DEC53B747}"/>
              </a:ext>
            </a:extLst>
          </p:cNvPr>
          <p:cNvSpPr>
            <a:spLocks xmlns:a="http://schemas.openxmlformats.org/drawingml/2006/main" noGrp="1"/>
          </p:cNvSpPr>
          <p:nvPr/>
        </p:nvSpPr>
        <p:spPr>
          <a:xfrm xmlns:a="http://schemas.openxmlformats.org/drawingml/2006/main">
            <a:off x="685800" y="6334125"/>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DCEBFF"/>
                </a:solidFill>
                <a:latin typeface="Arial"/>
                <a:ea typeface="Arial"/>
                <a:cs typeface="Arial"/>
              </a:defRPr>
            </a:defPPr>
          </a:lstStyle>
          <a:p xmlns:a="http://schemas.openxmlformats.org/drawingml/2006/main">
            <a:pPr>
              <a:defRPr sz="1200" b="0">
                <a:solidFill>
                  <a:srgbClr val="DCEBFF"/>
                </a:solidFill>
                <a:latin typeface="Arial"/>
                <a:ea typeface="Arial"/>
                <a:cs typeface="Arial"/>
              </a:defRPr>
            </a:pPr>
            <a:r>
              <a:rPr sz="1200" b="0">
                <a:solidFill>
                  <a:srgbClr val="DCEBFF"/>
                </a:solidFill>
                <a:latin typeface="Arial"/>
                <a:ea typeface="Arial"/>
                <a:cs typeface="Arial"/>
              </a:rPr>
              <a:t>ScamCatch  /  Application draft  /  October 8, 2026</a:t>
            </a:r>
          </a:p>
        </p:txBody>
      </p:sp>
      <p:sp>
        <p:nvSpPr>
          <p:cNvPr id="3" name="">
            <a:extLst xmlns:a="http://schemas.openxmlformats.org/drawingml/2006/main">
              <a:ext uri="{FF2B5EF4-FFF2-40B4-BE49-F238E27FC236}">
                <a16:creationId xmlns:a16="http://schemas.microsoft.com/office/drawing/2014/main" id="{70E3CA67-AE38-49F0-93AC-168C304FFE1B}"/>
              </a:ext>
            </a:extLst>
          </p:cNvPr>
          <p:cNvSpPr>
            <a:spLocks xmlns:a="http://schemas.openxmlformats.org/drawingml/2006/main" noGrp="1"/>
          </p:cNvSpPr>
          <p:nvPr/>
        </p:nvSpPr>
        <p:spPr>
          <a:xfrm xmlns:a="http://schemas.openxmlformats.org/drawingml/2006/main">
            <a:off x="11049000" y="6315075"/>
            <a:ext cx="428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DCEBFF"/>
                </a:solidFill>
                <a:latin typeface="Arial"/>
                <a:ea typeface="Arial"/>
                <a:cs typeface="Arial"/>
              </a:defRPr>
            </a:defPPr>
          </a:lstStyle>
          <a:p xmlns:a="http://schemas.openxmlformats.org/drawingml/2006/main">
            <a:pPr>
              <a:defRPr sz="1275" b="0">
                <a:solidFill>
                  <a:srgbClr val="DCEBFF"/>
                </a:solidFill>
                <a:latin typeface="Arial"/>
                <a:ea typeface="Arial"/>
                <a:cs typeface="Arial"/>
              </a:defRPr>
            </a:pPr>
            <a:r>
              <a:rPr sz="1275" b="0">
                <a:solidFill>
                  <a:srgbClr val="DCEBFF"/>
                </a:solidFill>
                <a:latin typeface="Arial"/>
                <a:ea typeface="Arial"/>
                <a:cs typeface="Arial"/>
              </a:rPr>
              <a:t>08</a:t>
            </a:r>
          </a:p>
        </p:txBody>
      </p:sp>
      <p:sp>
        <p:nvSpPr>
          <p:cNvPr id="4" name="">
            <a:extLst xmlns:a="http://schemas.openxmlformats.org/drawingml/2006/main">
              <a:ext uri="{FF2B5EF4-FFF2-40B4-BE49-F238E27FC236}">
                <a16:creationId xmlns:a16="http://schemas.microsoft.com/office/drawing/2014/main" id="{9671ADEE-DFA2-491C-A67E-BF509768C492}"/>
              </a:ext>
            </a:extLst>
          </p:cNvPr>
          <p:cNvSpPr>
            <a:spLocks xmlns:a="http://schemas.openxmlformats.org/drawingml/2006/main" noGrp="1"/>
          </p:cNvSpPr>
          <p:nvPr/>
        </p:nvSpPr>
        <p:spPr>
          <a:xfrm xmlns:a="http://schemas.openxmlformats.org/drawingml/2006/main">
            <a:off x="685800" y="16383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525" b="1">
                <a:solidFill>
                  <a:srgbClr val="FFFFFF"/>
                </a:solidFill>
                <a:latin typeface="Arial"/>
                <a:ea typeface="Arial"/>
                <a:cs typeface="Arial"/>
              </a:defRPr>
            </a:defPPr>
          </a:lstStyle>
          <a:p xmlns:a="http://schemas.openxmlformats.org/drawingml/2006/main">
            <a:pPr>
              <a:defRPr sz="3525" b="1">
                <a:solidFill>
                  <a:srgbClr val="FFFFFF"/>
                </a:solidFill>
                <a:latin typeface="Arial"/>
                <a:ea typeface="Arial"/>
                <a:cs typeface="Arial"/>
              </a:defRPr>
            </a:pPr>
            <a:r>
              <a:rPr sz="3525" b="1">
                <a:solidFill>
                  <a:srgbClr val="FFFFFF"/>
                </a:solidFill>
                <a:latin typeface="Arial"/>
                <a:ea typeface="Arial"/>
                <a:cs typeface="Arial"/>
              </a:rPr>
              <a:t>Institutional licensing</a:t>
            </a:r>
          </a:p>
        </p:txBody>
      </p:sp>
      <p:sp>
        <p:nvSpPr>
          <p:cNvPr id="5" name="">
            <a:extLst xmlns:a="http://schemas.openxmlformats.org/drawingml/2006/main">
              <a:ext uri="{FF2B5EF4-FFF2-40B4-BE49-F238E27FC236}">
                <a16:creationId xmlns:a16="http://schemas.microsoft.com/office/drawing/2014/main" id="{E0EC7586-6614-4E60-83C6-8DB75F3CAF6F}"/>
              </a:ext>
            </a:extLst>
          </p:cNvPr>
          <p:cNvSpPr>
            <a:spLocks xmlns:a="http://schemas.openxmlformats.org/drawingml/2006/main" noGrp="1"/>
          </p:cNvSpPr>
          <p:nvPr/>
        </p:nvSpPr>
        <p:spPr>
          <a:xfrm xmlns:a="http://schemas.openxmlformats.org/drawingml/2006/main">
            <a:off x="685800" y="2562225"/>
            <a:ext cx="10572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0">
                <a:solidFill>
                  <a:srgbClr val="DCEBFF"/>
                </a:solidFill>
                <a:latin typeface="Arial"/>
                <a:ea typeface="Arial"/>
                <a:cs typeface="Arial"/>
              </a:defRPr>
            </a:defPPr>
          </a:lstStyle>
          <a:p xmlns:a="http://schemas.openxmlformats.org/drawingml/2006/main">
            <a:pPr>
              <a:defRPr sz="2550" b="0">
                <a:solidFill>
                  <a:srgbClr val="DCEBFF"/>
                </a:solidFill>
                <a:latin typeface="Arial"/>
                <a:ea typeface="Arial"/>
                <a:cs typeface="Arial"/>
              </a:defRPr>
            </a:pPr>
            <a:r>
              <a:rPr sz="2550" b="0">
                <a:solidFill>
                  <a:srgbClr val="DCEBFF"/>
                </a:solidFill>
                <a:latin typeface="Arial"/>
                <a:ea typeface="Arial"/>
                <a:cs typeface="Arial"/>
              </a:rPr>
              <a:t>Proposed: institutions pay to offer ScamCatch</a:t>
            </a:r>
          </a:p>
          <a:p xmlns:a="http://schemas.openxmlformats.org/drawingml/2006/main">
            <a:pPr>
              <a:defRPr sz="2550" b="0">
                <a:solidFill>
                  <a:srgbClr val="DCEBFF"/>
                </a:solidFill>
                <a:latin typeface="Arial"/>
                <a:ea typeface="Arial"/>
                <a:cs typeface="Arial"/>
              </a:defRPr>
            </a:pPr>
            <a:r>
              <a:rPr sz="2550" b="0">
                <a:solidFill>
                  <a:srgbClr val="DCEBFF"/>
                </a:solidFill>
                <a:latin typeface="Arial"/>
                <a:ea typeface="Arial"/>
                <a:cs typeface="Arial"/>
              </a:rPr>
              <a:t>to customers or residents.</a:t>
            </a:r>
          </a:p>
        </p:txBody>
      </p:sp>
      <p:sp>
        <p:nvSpPr>
          <p:cNvPr id="6" name="">
            <a:extLst xmlns:a="http://schemas.openxmlformats.org/drawingml/2006/main">
              <a:ext uri="{FF2B5EF4-FFF2-40B4-BE49-F238E27FC236}">
                <a16:creationId xmlns:a16="http://schemas.microsoft.com/office/drawing/2014/main" id="{1236BC11-B2F0-41A3-9D35-CA4107547863}"/>
              </a:ext>
            </a:extLst>
          </p:cNvPr>
          <p:cNvSpPr>
            <a:spLocks xmlns:a="http://schemas.openxmlformats.org/drawingml/2006/main" noGrp="1"/>
          </p:cNvSpPr>
          <p:nvPr/>
        </p:nvSpPr>
        <p:spPr>
          <a:xfrm xmlns:a="http://schemas.openxmlformats.org/drawingml/2006/main">
            <a:off x="685800" y="3914775"/>
            <a:ext cx="10668000" cy="1885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DCEBFF"/>
                </a:solidFill>
                <a:latin typeface="Arial"/>
                <a:ea typeface="Arial"/>
                <a:cs typeface="Arial"/>
              </a:defRPr>
            </a:defPPr>
          </a:lstStyle>
          <a:p xmlns:a="http://schemas.openxmlformats.org/drawingml/2006/main">
            <a:pPr>
              <a:defRPr sz="2025" b="0">
                <a:solidFill>
                  <a:srgbClr val="DCEBFF"/>
                </a:solidFill>
                <a:latin typeface="Arial"/>
                <a:ea typeface="Arial"/>
                <a:cs typeface="Arial"/>
              </a:defRPr>
            </a:pPr>
            <a:r>
              <a:rPr sz="2025" b="0">
                <a:solidFill>
                  <a:srgbClr val="DCEBFF"/>
                </a:solidFill>
                <a:latin typeface="Arial"/>
                <a:ea typeface="Arial"/>
                <a:cs typeface="Arial"/>
              </a:rPr>
              <a:t>1. Initial buyer and pricing remain pending.</a:t>
            </a:r>
          </a:p>
          <a:p xmlns:a="http://schemas.openxmlformats.org/drawingml/2006/main">
            <a:r>
              <a:t/>
            </a:r>
          </a:p>
          <a:p xmlns:a="http://schemas.openxmlformats.org/drawingml/2006/main">
            <a:pPr>
              <a:defRPr sz="2025" b="0">
                <a:solidFill>
                  <a:srgbClr val="DCEBFF"/>
                </a:solidFill>
                <a:latin typeface="Arial"/>
                <a:ea typeface="Arial"/>
                <a:cs typeface="Arial"/>
              </a:defRPr>
            </a:pPr>
            <a:r>
              <a:rPr sz="2025" b="0">
                <a:solidFill>
                  <a:srgbClr val="DCEBFF"/>
                </a:solidFill>
                <a:latin typeface="Arial"/>
                <a:ea typeface="Arial"/>
                <a:cs typeface="Arial"/>
              </a:rPr>
              <a:t>2. Validate a paid pilot and an annual license with a usage allowance.</a:t>
            </a:r>
          </a:p>
          <a:p xmlns:a="http://schemas.openxmlformats.org/drawingml/2006/main">
            <a:r>
              <a:t/>
            </a:r>
          </a:p>
          <a:p xmlns:a="http://schemas.openxmlformats.org/drawingml/2006/main">
            <a:pPr>
              <a:defRPr sz="2025" b="0">
                <a:solidFill>
                  <a:srgbClr val="DCEBFF"/>
                </a:solidFill>
                <a:latin typeface="Arial"/>
                <a:ea typeface="Arial"/>
                <a:cs typeface="Arial"/>
              </a:defRPr>
            </a:pPr>
            <a:r>
              <a:rPr sz="2025" b="0">
                <a:solidFill>
                  <a:srgbClr val="DCEBFF"/>
                </a:solidFill>
                <a:latin typeface="Arial"/>
                <a:ea typeface="Arial"/>
                <a:cs typeface="Arial"/>
              </a:rPr>
              <a:t>3. Set prices after voice cost and support requirements are known.</a:t>
            </a:r>
          </a:p>
        </p:txBody>
      </p:sp>
    </p:spTree>
    <p:extLst>
      <p:ext uri="{BB962C8B-B14F-4D97-AF65-F5344CB8AC3E}">
        <p14:creationId xmlns:p14="http://schemas.microsoft.com/office/powerpoint/2010/main" val="1639338377"/>
      </p:ext>
    </p:extLst>
  </p:cSld>
</p:sld>
</file>

<file path=ppt/slides/slide9.xml><?xml version="1.0" encoding="utf-8"?>
<p:sld xmlns:p="http://schemas.openxmlformats.org/presentationml/2006/main">
  <p:cSld>
    <p:bg>
      <p:bgPr>
        <a:solidFill xmlns:a="http://schemas.openxmlformats.org/drawingml/2006/main">
          <a:srgbClr val="FAFC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1889502-44FE-455D-BA7B-E274EE88D08D}"/>
              </a:ext>
            </a:extLst>
          </p:cNvPr>
          <p:cNvSpPr>
            <a:spLocks xmlns:a="http://schemas.openxmlformats.org/drawingml/2006/main" noGrp="1"/>
          </p:cNvSpPr>
          <p:nvPr/>
        </p:nvSpPr>
        <p:spPr>
          <a:xfrm xmlns:a="http://schemas.openxmlformats.org/drawingml/2006/main">
            <a:off x="685800" y="523875"/>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02A43"/>
                </a:solidFill>
                <a:latin typeface="Arial"/>
                <a:ea typeface="Arial"/>
                <a:cs typeface="Arial"/>
              </a:defRPr>
            </a:defPPr>
          </a:lstStyle>
          <a:p xmlns:a="http://schemas.openxmlformats.org/drawingml/2006/main">
            <a:pPr>
              <a:defRPr sz="3450" b="1">
                <a:solidFill>
                  <a:srgbClr val="102A43"/>
                </a:solidFill>
                <a:latin typeface="Arial"/>
                <a:ea typeface="Arial"/>
                <a:cs typeface="Arial"/>
              </a:defRPr>
            </a:pPr>
            <a:r>
              <a:rPr sz="3450" b="1">
                <a:solidFill>
                  <a:srgbClr val="102A43"/>
                </a:solidFill>
                <a:latin typeface="Arial"/>
                <a:ea typeface="Arial"/>
                <a:cs typeface="Arial"/>
              </a:rPr>
              <a:t>Revenue, funding and runway</a:t>
            </a:r>
          </a:p>
        </p:txBody>
      </p:sp>
      <p:sp>
        <p:nvSpPr>
          <p:cNvPr id="2" name="">
            <a:extLst xmlns:a="http://schemas.openxmlformats.org/drawingml/2006/main">
              <a:ext uri="{FF2B5EF4-FFF2-40B4-BE49-F238E27FC236}">
                <a16:creationId xmlns:a16="http://schemas.microsoft.com/office/drawing/2014/main" id="{4D8EC671-0BBE-4CA2-88C9-D2EFC8EC5AA1}"/>
              </a:ext>
            </a:extLst>
          </p:cNvPr>
          <p:cNvSpPr>
            <a:spLocks xmlns:a="http://schemas.openxmlformats.org/drawingml/2006/main" noGrp="1"/>
          </p:cNvSpPr>
          <p:nvPr/>
        </p:nvSpPr>
        <p:spPr>
          <a:xfrm xmlns:a="http://schemas.openxmlformats.org/drawingml/2006/main">
            <a:off x="685800" y="6334125"/>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87A"/>
                </a:solidFill>
                <a:latin typeface="Arial"/>
                <a:ea typeface="Arial"/>
                <a:cs typeface="Arial"/>
              </a:defRPr>
            </a:defPPr>
          </a:lstStyle>
          <a:p xmlns:a="http://schemas.openxmlformats.org/drawingml/2006/main">
            <a:pPr>
              <a:defRPr sz="1200" b="0">
                <a:solidFill>
                  <a:srgbClr val="52687A"/>
                </a:solidFill>
                <a:latin typeface="Arial"/>
                <a:ea typeface="Arial"/>
                <a:cs typeface="Arial"/>
              </a:defRPr>
            </a:pPr>
            <a:r>
              <a:rPr sz="1200" b="0">
                <a:solidFill>
                  <a:srgbClr val="52687A"/>
                </a:solidFill>
                <a:latin typeface="Arial"/>
                <a:ea typeface="Arial"/>
                <a:cs typeface="Arial"/>
              </a:rPr>
              <a:t>ScamCatch  /  Application draft  /  October 8, 2026</a:t>
            </a:r>
          </a:p>
        </p:txBody>
      </p:sp>
      <p:sp>
        <p:nvSpPr>
          <p:cNvPr id="3" name="">
            <a:extLst xmlns:a="http://schemas.openxmlformats.org/drawingml/2006/main">
              <a:ext uri="{FF2B5EF4-FFF2-40B4-BE49-F238E27FC236}">
                <a16:creationId xmlns:a16="http://schemas.microsoft.com/office/drawing/2014/main" id="{BD6BD68E-B068-4903-BBDA-F72865E7D599}"/>
              </a:ext>
            </a:extLst>
          </p:cNvPr>
          <p:cNvSpPr>
            <a:spLocks xmlns:a="http://schemas.openxmlformats.org/drawingml/2006/main" noGrp="1"/>
          </p:cNvSpPr>
          <p:nvPr/>
        </p:nvSpPr>
        <p:spPr>
          <a:xfrm xmlns:a="http://schemas.openxmlformats.org/drawingml/2006/main">
            <a:off x="11049000" y="6315075"/>
            <a:ext cx="428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87A"/>
                </a:solidFill>
                <a:latin typeface="Arial"/>
                <a:ea typeface="Arial"/>
                <a:cs typeface="Arial"/>
              </a:defRPr>
            </a:defPPr>
          </a:lstStyle>
          <a:p xmlns:a="http://schemas.openxmlformats.org/drawingml/2006/main">
            <a:pPr>
              <a:defRPr sz="1275" b="0">
                <a:solidFill>
                  <a:srgbClr val="52687A"/>
                </a:solidFill>
                <a:latin typeface="Arial"/>
                <a:ea typeface="Arial"/>
                <a:cs typeface="Arial"/>
              </a:defRPr>
            </a:pPr>
            <a:r>
              <a:rPr sz="1275" b="0">
                <a:solidFill>
                  <a:srgbClr val="52687A"/>
                </a:solidFill>
                <a:latin typeface="Arial"/>
                <a:ea typeface="Arial"/>
                <a:cs typeface="Arial"/>
              </a:rPr>
              <a:t>09</a:t>
            </a:r>
          </a:p>
        </p:txBody>
      </p:sp>
      <p:graphicFrame>
        <p:nvGraphicFramePr>
          <p:cNvPr id="4" name="">
            <a:extLst xmlns:a="http://schemas.openxmlformats.org/drawingml/2006/main">
              <a:ext uri="{FF2B5EF4-FFF2-40B4-BE49-F238E27FC236}">
                <a16:creationId xmlns:a16="http://schemas.microsoft.com/office/drawing/2014/main" id="{F395EDB9-775F-433A-A6A0-AEBDCED78C73}"/>
              </a:ext>
            </a:extLst>
          </p:cNvPr>
          <p:cNvGraphicFramePr/>
          <p:nvPr/>
        </p:nvGraphicFramePr>
        <p:xfrm>
          <a:off xmlns:a="http://schemas.openxmlformats.org/drawingml/2006/main" x="685800" y="1685925"/>
          <a:ext xmlns:a="http://schemas.openxmlformats.org/drawingml/2006/main" cx="10820400" cy="3552825"/>
        </p:xfrm>
        <a:graphic xmlns:a="http://schemas.openxmlformats.org/drawingml/2006/main">
          <a:graphicData uri="http://schemas.openxmlformats.org/drawingml/2006/table">
            <a:tbl>
              <a:tblPr/>
              <a:tblGrid>
                <a:gridCol w="4876800"/>
                <a:gridCol w="5943600"/>
              </a:tblGrid>
              <a:tr h="710565">
                <a:tc>
                  <a:txBody>
                    <a:bodyPr/>
                    <a:lstStyle/>
                    <a:p>
                      <a:r>
                        <a:rPr sz="1875" b="1">
                          <a:solidFill>
                            <a:srgbClr val="FFFFFF"/>
                          </a:solidFill>
                          <a:latin typeface="Arial"/>
                          <a:ea typeface="Arial"/>
                          <a:cs typeface="Arial"/>
                        </a:rPr>
                        <a:t>Required fact</a:t>
                      </a:r>
                    </a:p>
                  </a:txBody>
                  <a:tcPr marL="190500" marR="190500" marT="161925" marB="123825">
                    <a:solidFill>
                      <a:srgbClr val="102A43"/>
                    </a:solidFill>
                  </a:tcPr>
                </a:tc>
                <a:tc>
                  <a:txBody>
                    <a:bodyPr/>
                    <a:lstStyle/>
                    <a:p>
                      <a:r>
                        <a:rPr sz="1875" b="1">
                          <a:solidFill>
                            <a:srgbClr val="FFFFFF"/>
                          </a:solidFill>
                          <a:latin typeface="Arial"/>
                          <a:ea typeface="Arial"/>
                          <a:cs typeface="Arial"/>
                        </a:rPr>
                        <a:t>Status</a:t>
                      </a:r>
                    </a:p>
                  </a:txBody>
                  <a:tcPr marL="190500" marR="190500" marT="161925" marB="123825">
                    <a:solidFill>
                      <a:srgbClr val="102A43"/>
                    </a:solidFill>
                  </a:tcPr>
                </a:tc>
              </a:tr>
              <a:tr h="710565">
                <a:tc>
                  <a:txBody>
                    <a:bodyPr/>
                    <a:lstStyle/>
                    <a:p>
                      <a:r>
                        <a:rPr sz="1875">
                          <a:solidFill>
                            <a:srgbClr val="102A43"/>
                          </a:solidFill>
                          <a:latin typeface="Arial"/>
                          <a:ea typeface="Arial"/>
                          <a:cs typeface="Arial"/>
                        </a:rPr>
                        <a:t>Revenue, MRR and ARR</a:t>
                      </a:r>
                    </a:p>
                  </a:txBody>
                  <a:tcPr marL="190500" marR="190500" marT="161925" marB="123825">
                    <a:solidFill>
                      <a:srgbClr val="FAFCFF"/>
                    </a:solidFill>
                  </a:tcPr>
                </a:tc>
                <a:tc>
                  <a:txBody>
                    <a:bodyPr/>
                    <a:lstStyle/>
                    <a:p>
                      <a:r>
                        <a:rPr sz="1875">
                          <a:solidFill>
                            <a:srgbClr val="102A43"/>
                          </a:solidFill>
                          <a:latin typeface="Arial"/>
                          <a:ea typeface="Arial"/>
                          <a:cs typeface="Arial"/>
                        </a:rPr>
                        <a:t>$0 total revenue / $0 MRR / $0 ARR</a:t>
                      </a:r>
                    </a:p>
                  </a:txBody>
                  <a:tcPr marL="190500" marR="190500" marT="161925" marB="123825">
                    <a:solidFill>
                      <a:srgbClr val="FAFCFF"/>
                    </a:solidFill>
                  </a:tcPr>
                </a:tc>
              </a:tr>
              <a:tr h="710565">
                <a:tc>
                  <a:txBody>
                    <a:bodyPr/>
                    <a:lstStyle/>
                    <a:p>
                      <a:r>
                        <a:rPr sz="1875">
                          <a:solidFill>
                            <a:srgbClr val="102A43"/>
                          </a:solidFill>
                          <a:latin typeface="Arial"/>
                          <a:ea typeface="Arial"/>
                          <a:cs typeface="Arial"/>
                        </a:rPr>
                        <a:t>Capital raised to date</a:t>
                      </a:r>
                    </a:p>
                  </a:txBody>
                  <a:tcPr marL="190500" marR="190500" marT="161925" marB="123825">
                    <a:solidFill>
                      <a:srgbClr val="FAFCFF"/>
                    </a:solidFill>
                  </a:tcPr>
                </a:tc>
                <a:tc>
                  <a:txBody>
                    <a:bodyPr/>
                    <a:lstStyle/>
                    <a:p>
                      <a:r>
                        <a:rPr sz="1875">
                          <a:solidFill>
                            <a:srgbClr val="102A43"/>
                          </a:solidFill>
                          <a:latin typeface="Arial"/>
                          <a:ea typeface="Arial"/>
                          <a:cs typeface="Arial"/>
                        </a:rPr>
                        <a:t>$0</a:t>
                      </a:r>
                    </a:p>
                  </a:txBody>
                  <a:tcPr marL="190500" marR="190500" marT="161925" marB="123825">
                    <a:solidFill>
                      <a:srgbClr val="FAFCFF"/>
                    </a:solidFill>
                  </a:tcPr>
                </a:tc>
              </a:tr>
              <a:tr h="710565">
                <a:tc>
                  <a:txBody>
                    <a:bodyPr/>
                    <a:lstStyle/>
                    <a:p>
                      <a:r>
                        <a:rPr sz="1875">
                          <a:solidFill>
                            <a:srgbClr val="102A43"/>
                          </a:solidFill>
                          <a:latin typeface="Arial"/>
                          <a:ea typeface="Arial"/>
                          <a:cs typeface="Arial"/>
                        </a:rPr>
                        <a:t>Currently raising funds?</a:t>
                      </a:r>
                    </a:p>
                  </a:txBody>
                  <a:tcPr marL="190500" marR="190500" marT="161925" marB="123825">
                    <a:solidFill>
                      <a:srgbClr val="FAFCFF"/>
                    </a:solidFill>
                  </a:tcPr>
                </a:tc>
                <a:tc>
                  <a:txBody>
                    <a:bodyPr/>
                    <a:lstStyle/>
                    <a:p>
                      <a:r>
                        <a:rPr sz="1875">
                          <a:solidFill>
                            <a:srgbClr val="102A43"/>
                          </a:solidFill>
                          <a:latin typeface="Arial"/>
                          <a:ea typeface="Arial"/>
                          <a:cs typeface="Arial"/>
                        </a:rPr>
                        <a:t>No</a:t>
                      </a:r>
                    </a:p>
                  </a:txBody>
                  <a:tcPr marL="190500" marR="190500" marT="161925" marB="123825">
                    <a:solidFill>
                      <a:srgbClr val="FAFCFF"/>
                    </a:solidFill>
                  </a:tcPr>
                </a:tc>
              </a:tr>
              <a:tr h="710565">
                <a:tc>
                  <a:txBody>
                    <a:bodyPr/>
                    <a:lstStyle/>
                    <a:p>
                      <a:r>
                        <a:rPr sz="1875">
                          <a:solidFill>
                            <a:srgbClr val="102A43"/>
                          </a:solidFill>
                          <a:latin typeface="Arial"/>
                          <a:ea typeface="Arial"/>
                          <a:cs typeface="Arial"/>
                        </a:rPr>
                        <a:t>Remaining runway</a:t>
                      </a:r>
                    </a:p>
                  </a:txBody>
                  <a:tcPr marL="190500" marR="190500" marT="161925" marB="123825">
                    <a:solidFill>
                      <a:srgbClr val="FAFCFF"/>
                    </a:solidFill>
                  </a:tcPr>
                </a:tc>
                <a:tc>
                  <a:txBody>
                    <a:bodyPr/>
                    <a:lstStyle/>
                    <a:p>
                      <a:r>
                        <a:rPr sz="1875">
                          <a:solidFill>
                            <a:srgbClr val="102A43"/>
                          </a:solidFill>
                          <a:latin typeface="Arial"/>
                          <a:ea typeface="Arial"/>
                          <a:cs typeface="Arial"/>
                        </a:rPr>
                        <a:t>Ongoing at current prototype scope*</a:t>
                      </a:r>
                    </a:p>
                  </a:txBody>
                  <a:tcPr marL="190500" marR="190500" marT="161925" marB="123825">
                    <a:solidFill>
                      <a:srgbClr val="FAFCFF"/>
                    </a:solidFill>
                  </a:tcPr>
                </a:tc>
              </a:tr>
            </a:tbl>
          </a:graphicData>
        </a:graphic>
      </p:graphicFrame>
      <p:sp>
        <p:nvSpPr>
          <p:cNvPr id="5" name="">
            <a:extLst xmlns:a="http://schemas.openxmlformats.org/drawingml/2006/main">
              <a:ext uri="{FF2B5EF4-FFF2-40B4-BE49-F238E27FC236}">
                <a16:creationId xmlns:a16="http://schemas.microsoft.com/office/drawing/2014/main" id="{BFACE5A8-4EEF-45A5-B2FA-223D2C848342}"/>
              </a:ext>
            </a:extLst>
          </p:cNvPr>
          <p:cNvSpPr>
            <a:spLocks xmlns:a="http://schemas.openxmlformats.org/drawingml/2006/main" noGrp="1"/>
          </p:cNvSpPr>
          <p:nvPr/>
        </p:nvSpPr>
        <p:spPr>
          <a:xfrm xmlns:a="http://schemas.openxmlformats.org/drawingml/2006/main">
            <a:off x="685800" y="5553075"/>
            <a:ext cx="108204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2687A"/>
                </a:solidFill>
                <a:latin typeface="Arial"/>
                <a:ea typeface="Arial"/>
                <a:cs typeface="Arial"/>
              </a:defRPr>
            </a:defPPr>
          </a:lstStyle>
          <a:p xmlns:a="http://schemas.openxmlformats.org/drawingml/2006/main">
            <a:pPr>
              <a:defRPr sz="2025" b="0">
                <a:solidFill>
                  <a:srgbClr val="52687A"/>
                </a:solidFill>
                <a:latin typeface="Arial"/>
                <a:ea typeface="Arial"/>
                <a:cs typeface="Arial"/>
              </a:defRPr>
            </a:pPr>
            <a:r>
              <a:rPr sz="2025" b="0">
                <a:solidFill>
                  <a:srgbClr val="52687A"/>
                </a:solidFill>
                <a:latin typeface="Arial"/>
                <a:ea typeface="Arial"/>
                <a:cs typeface="Arial"/>
              </a:rPr>
              <a:t>*Founder estimate. Operating costs and scope can change.</a:t>
            </a:r>
          </a:p>
        </p:txBody>
      </p:sp>
    </p:spTree>
    <p:extLst>
      <p:ext uri="{BB962C8B-B14F-4D97-AF65-F5344CB8AC3E}">
        <p14:creationId xmlns:p14="http://schemas.microsoft.com/office/powerpoint/2010/main" val="95254697"/>
      </p:ext>
    </p:extLst>
  </p:cSld>
</p:sld>
</file>

<file path=ppt/slides/slide10.xml><?xml version="1.0" encoding="utf-8"?>
<p:sld xmlns:p="http://schemas.openxmlformats.org/presentationml/2006/main">
  <p:cSld>
    <p:bg>
      <p:bgPr>
        <a:solidFill xmlns:a="http://schemas.openxmlformats.org/drawingml/2006/main">
          <a:srgbClr val="102A43"/>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75864DE4-7792-4A6E-B2C3-882CB9299131}"/>
              </a:ext>
            </a:extLst>
          </p:cNvPr>
          <p:cNvSpPr>
            <a:spLocks xmlns:a="http://schemas.openxmlformats.org/drawingml/2006/main" noGrp="1"/>
          </p:cNvSpPr>
          <p:nvPr/>
        </p:nvSpPr>
        <p:spPr>
          <a:xfrm xmlns:a="http://schemas.openxmlformats.org/drawingml/2006/main">
            <a:off x="685800" y="523875"/>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FFFFFF"/>
                </a:solidFill>
                <a:latin typeface="Arial"/>
                <a:ea typeface="Arial"/>
                <a:cs typeface="Arial"/>
              </a:defRPr>
            </a:defPPr>
          </a:lstStyle>
          <a:p xmlns:a="http://schemas.openxmlformats.org/drawingml/2006/main">
            <a:pPr>
              <a:defRPr sz="3450" b="1">
                <a:solidFill>
                  <a:srgbClr val="FFFFFF"/>
                </a:solidFill>
                <a:latin typeface="Arial"/>
                <a:ea typeface="Arial"/>
                <a:cs typeface="Arial"/>
              </a:defRPr>
            </a:pPr>
            <a:r>
              <a:rPr sz="3450" b="1">
                <a:solidFill>
                  <a:srgbClr val="FFFFFF"/>
                </a:solidFill>
                <a:latin typeface="Arial"/>
                <a:ea typeface="Arial"/>
                <a:cs typeface="Arial"/>
              </a:rPr>
              <a:t>Founder and application goals</a:t>
            </a:r>
          </a:p>
        </p:txBody>
      </p:sp>
      <p:sp>
        <p:nvSpPr>
          <p:cNvPr id="2" name="">
            <a:extLst xmlns:a="http://schemas.openxmlformats.org/drawingml/2006/main">
              <a:ext uri="{FF2B5EF4-FFF2-40B4-BE49-F238E27FC236}">
                <a16:creationId xmlns:a16="http://schemas.microsoft.com/office/drawing/2014/main" id="{A3E8EF7F-D0BC-4694-A8E0-3FEEBA4A0211}"/>
              </a:ext>
            </a:extLst>
          </p:cNvPr>
          <p:cNvSpPr>
            <a:spLocks xmlns:a="http://schemas.openxmlformats.org/drawingml/2006/main" noGrp="1"/>
          </p:cNvSpPr>
          <p:nvPr/>
        </p:nvSpPr>
        <p:spPr>
          <a:xfrm xmlns:a="http://schemas.openxmlformats.org/drawingml/2006/main">
            <a:off x="685800" y="6334125"/>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DCEBFF"/>
                </a:solidFill>
                <a:latin typeface="Arial"/>
                <a:ea typeface="Arial"/>
                <a:cs typeface="Arial"/>
              </a:defRPr>
            </a:defPPr>
          </a:lstStyle>
          <a:p xmlns:a="http://schemas.openxmlformats.org/drawingml/2006/main">
            <a:pPr>
              <a:defRPr sz="1200" b="0">
                <a:solidFill>
                  <a:srgbClr val="DCEBFF"/>
                </a:solidFill>
                <a:latin typeface="Arial"/>
                <a:ea typeface="Arial"/>
                <a:cs typeface="Arial"/>
              </a:defRPr>
            </a:pPr>
            <a:r>
              <a:rPr sz="1200" b="0">
                <a:solidFill>
                  <a:srgbClr val="DCEBFF"/>
                </a:solidFill>
                <a:latin typeface="Arial"/>
                <a:ea typeface="Arial"/>
                <a:cs typeface="Arial"/>
              </a:rPr>
              <a:t>ScamCatch  /  Application draft  /  October 8, 2026</a:t>
            </a:r>
          </a:p>
        </p:txBody>
      </p:sp>
      <p:sp>
        <p:nvSpPr>
          <p:cNvPr id="3" name="">
            <a:extLst xmlns:a="http://schemas.openxmlformats.org/drawingml/2006/main">
              <a:ext uri="{FF2B5EF4-FFF2-40B4-BE49-F238E27FC236}">
                <a16:creationId xmlns:a16="http://schemas.microsoft.com/office/drawing/2014/main" id="{B9313629-09FB-483D-8B01-2141102B9022}"/>
              </a:ext>
            </a:extLst>
          </p:cNvPr>
          <p:cNvSpPr>
            <a:spLocks xmlns:a="http://schemas.openxmlformats.org/drawingml/2006/main" noGrp="1"/>
          </p:cNvSpPr>
          <p:nvPr/>
        </p:nvSpPr>
        <p:spPr>
          <a:xfrm xmlns:a="http://schemas.openxmlformats.org/drawingml/2006/main">
            <a:off x="11049000" y="6315075"/>
            <a:ext cx="428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DCEBFF"/>
                </a:solidFill>
                <a:latin typeface="Arial"/>
                <a:ea typeface="Arial"/>
                <a:cs typeface="Arial"/>
              </a:defRPr>
            </a:defPPr>
          </a:lstStyle>
          <a:p xmlns:a="http://schemas.openxmlformats.org/drawingml/2006/main">
            <a:pPr>
              <a:defRPr sz="1275" b="0">
                <a:solidFill>
                  <a:srgbClr val="DCEBFF"/>
                </a:solidFill>
                <a:latin typeface="Arial"/>
                <a:ea typeface="Arial"/>
                <a:cs typeface="Arial"/>
              </a:defRPr>
            </a:pPr>
            <a:r>
              <a:rPr sz="1275" b="0">
                <a:solidFill>
                  <a:srgbClr val="DCEBFF"/>
                </a:solidFill>
                <a:latin typeface="Arial"/>
                <a:ea typeface="Arial"/>
                <a:cs typeface="Arial"/>
              </a:rPr>
              <a:t>10</a:t>
            </a:r>
          </a:p>
        </p:txBody>
      </p:sp>
      <p:sp>
        <p:nvSpPr>
          <p:cNvPr id="4" name="">
            <a:extLst xmlns:a="http://schemas.openxmlformats.org/drawingml/2006/main">
              <a:ext uri="{FF2B5EF4-FFF2-40B4-BE49-F238E27FC236}">
                <a16:creationId xmlns:a16="http://schemas.microsoft.com/office/drawing/2014/main" id="{1FB8F31E-B0F4-48B9-9229-ACDBC413C70F}"/>
              </a:ext>
            </a:extLst>
          </p:cNvPr>
          <p:cNvSpPr>
            <a:spLocks xmlns:a="http://schemas.openxmlformats.org/drawingml/2006/main" noGrp="1"/>
          </p:cNvSpPr>
          <p:nvPr/>
        </p:nvSpPr>
        <p:spPr>
          <a:xfrm xmlns:a="http://schemas.openxmlformats.org/drawingml/2006/main">
            <a:off x="685800" y="1685925"/>
            <a:ext cx="59531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00" b="1">
                <a:solidFill>
                  <a:srgbClr val="FFFFFF"/>
                </a:solidFill>
                <a:latin typeface="Arial"/>
                <a:ea typeface="Arial"/>
                <a:cs typeface="Arial"/>
              </a:defRPr>
            </a:defPPr>
          </a:lstStyle>
          <a:p xmlns:a="http://schemas.openxmlformats.org/drawingml/2006/main">
            <a:pPr>
              <a:defRPr sz="3900" b="1">
                <a:solidFill>
                  <a:srgbClr val="FFFFFF"/>
                </a:solidFill>
                <a:latin typeface="Arial"/>
                <a:ea typeface="Arial"/>
                <a:cs typeface="Arial"/>
              </a:defRPr>
            </a:pPr>
            <a:r>
              <a:rPr sz="3900" b="1">
                <a:solidFill>
                  <a:srgbClr val="FFFFFF"/>
                </a:solidFill>
                <a:latin typeface="Arial"/>
                <a:ea typeface="Arial"/>
                <a:cs typeface="Arial"/>
              </a:rPr>
              <a:t>Jonathan Kim</a:t>
            </a:r>
          </a:p>
        </p:txBody>
      </p:sp>
      <p:sp>
        <p:nvSpPr>
          <p:cNvPr id="5" name="">
            <a:extLst xmlns:a="http://schemas.openxmlformats.org/drawingml/2006/main">
              <a:ext uri="{FF2B5EF4-FFF2-40B4-BE49-F238E27FC236}">
                <a16:creationId xmlns:a16="http://schemas.microsoft.com/office/drawing/2014/main" id="{274B3F96-A7B6-41ED-8B2B-315A8D09C1D7}"/>
              </a:ext>
            </a:extLst>
          </p:cNvPr>
          <p:cNvSpPr>
            <a:spLocks xmlns:a="http://schemas.openxmlformats.org/drawingml/2006/main" noGrp="1"/>
          </p:cNvSpPr>
          <p:nvPr/>
        </p:nvSpPr>
        <p:spPr>
          <a:xfrm xmlns:a="http://schemas.openxmlformats.org/drawingml/2006/main">
            <a:off x="704850" y="2514600"/>
            <a:ext cx="6096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DCEBFF"/>
                </a:solidFill>
                <a:latin typeface="Arial"/>
                <a:ea typeface="Arial"/>
                <a:cs typeface="Arial"/>
              </a:defRPr>
            </a:defPPr>
          </a:lstStyle>
          <a:p xmlns:a="http://schemas.openxmlformats.org/drawingml/2006/main">
            <a:pPr>
              <a:defRPr sz="2250" b="0">
                <a:solidFill>
                  <a:srgbClr val="DCEBFF"/>
                </a:solidFill>
                <a:latin typeface="Arial"/>
                <a:ea typeface="Arial"/>
                <a:cs typeface="Arial"/>
              </a:defRPr>
            </a:pPr>
            <a:r>
              <a:rPr sz="2250" b="0">
                <a:solidFill>
                  <a:srgbClr val="DCEBFF"/>
                </a:solidFill>
                <a:latin typeface="Arial"/>
                <a:ea typeface="Arial"/>
                <a:cs typeface="Arial"/>
              </a:rPr>
              <a:t>Sole founder and software engineer</a:t>
            </a:r>
          </a:p>
          <a:p xmlns:a="http://schemas.openxmlformats.org/drawingml/2006/main">
            <a:pPr>
              <a:defRPr sz="2250" b="0">
                <a:solidFill>
                  <a:srgbClr val="DCEBFF"/>
                </a:solidFill>
                <a:latin typeface="Arial"/>
                <a:ea typeface="Arial"/>
                <a:cs typeface="Arial"/>
              </a:defRPr>
            </a:pPr>
            <a:r>
              <a:rPr sz="2250" b="0">
                <a:solidFill>
                  <a:srgbClr val="DCEBFF"/>
                </a:solidFill>
                <a:latin typeface="Arial"/>
                <a:ea typeface="Arial"/>
                <a:cs typeface="Arial"/>
              </a:rPr>
              <a:t>Mirae Opus LLC, California</a:t>
            </a:r>
          </a:p>
        </p:txBody>
      </p:sp>
      <p:sp>
        <p:nvSpPr>
          <p:cNvPr id="6" name="">
            <a:extLst xmlns:a="http://schemas.openxmlformats.org/drawingml/2006/main">
              <a:ext uri="{FF2B5EF4-FFF2-40B4-BE49-F238E27FC236}">
                <a16:creationId xmlns:a16="http://schemas.microsoft.com/office/drawing/2014/main" id="{55FCDA32-5343-4855-83E2-82B6BF88B449}"/>
              </a:ext>
            </a:extLst>
          </p:cNvPr>
          <p:cNvSpPr>
            <a:spLocks xmlns:a="http://schemas.openxmlformats.org/drawingml/2006/main" noGrp="1"/>
          </p:cNvSpPr>
          <p:nvPr/>
        </p:nvSpPr>
        <p:spPr>
          <a:xfrm xmlns:a="http://schemas.openxmlformats.org/drawingml/2006/main">
            <a:off x="704850" y="3848100"/>
            <a:ext cx="5762625"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DCEBFF"/>
                </a:solidFill>
                <a:latin typeface="Arial"/>
                <a:ea typeface="Arial"/>
                <a:cs typeface="Arial"/>
              </a:defRPr>
            </a:defPPr>
          </a:lstStyle>
          <a:p xmlns:a="http://schemas.openxmlformats.org/drawingml/2006/main">
            <a:pPr>
              <a:defRPr sz="2100" b="0">
                <a:solidFill>
                  <a:srgbClr val="DCEBFF"/>
                </a:solidFill>
                <a:latin typeface="Arial"/>
                <a:ea typeface="Arial"/>
                <a:cs typeface="Arial"/>
              </a:defRPr>
            </a:pPr>
            <a:r>
              <a:rPr sz="2100" b="0">
                <a:solidFill>
                  <a:srgbClr val="DCEBFF"/>
                </a:solidFill>
                <a:latin typeface="Arial"/>
                <a:ea typeface="Arial"/>
                <a:cs typeface="Arial"/>
              </a:rPr>
              <a:t>No other team members or advisors.</a:t>
            </a:r>
          </a:p>
          <a:p xmlns:a="http://schemas.openxmlformats.org/drawingml/2006/main">
            <a:r>
              <a:t/>
            </a:r>
          </a:p>
          <a:p xmlns:a="http://schemas.openxmlformats.org/drawingml/2006/main">
            <a:pPr>
              <a:defRPr sz="2100" b="0">
                <a:solidFill>
                  <a:srgbClr val="DCEBFF"/>
                </a:solidFill>
                <a:latin typeface="Arial"/>
                <a:ea typeface="Arial"/>
                <a:cs typeface="Arial"/>
              </a:defRPr>
            </a:pPr>
            <a:r>
              <a:rPr sz="2100" b="0">
                <a:solidFill>
                  <a:srgbClr val="DCEBFF"/>
                </a:solidFill>
                <a:latin typeface="Arial"/>
                <a:ea typeface="Arial"/>
                <a:cs typeface="Arial"/>
              </a:rPr>
              <a:t>This is Jonathan’s first startup.</a:t>
            </a:r>
          </a:p>
        </p:txBody>
      </p:sp>
      <p:sp>
        <p:nvSpPr>
          <p:cNvPr id="7" name="">
            <a:extLst xmlns:a="http://schemas.openxmlformats.org/drawingml/2006/main">
              <a:ext uri="{FF2B5EF4-FFF2-40B4-BE49-F238E27FC236}">
                <a16:creationId xmlns:a16="http://schemas.microsoft.com/office/drawing/2014/main" id="{6AF68B80-D3B5-48F2-93FA-5E59EA12A7D9}"/>
              </a:ext>
            </a:extLst>
          </p:cNvPr>
          <p:cNvSpPr>
            <a:spLocks xmlns:a="http://schemas.openxmlformats.org/drawingml/2006/main" noGrp="1"/>
          </p:cNvSpPr>
          <p:nvPr/>
        </p:nvSpPr>
        <p:spPr>
          <a:xfrm xmlns:a="http://schemas.openxmlformats.org/drawingml/2006/main">
            <a:off x="7429500" y="1695450"/>
            <a:ext cx="40290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FFFFFF"/>
                </a:solidFill>
                <a:latin typeface="Arial"/>
                <a:ea typeface="Arial"/>
                <a:cs typeface="Arial"/>
              </a:defRPr>
            </a:defPPr>
          </a:lstStyle>
          <a:p xmlns:a="http://schemas.openxmlformats.org/drawingml/2006/main">
            <a:pPr>
              <a:defRPr sz="2400" b="1">
                <a:solidFill>
                  <a:srgbClr val="FFFFFF"/>
                </a:solidFill>
                <a:latin typeface="Arial"/>
                <a:ea typeface="Arial"/>
                <a:cs typeface="Arial"/>
              </a:defRPr>
            </a:pPr>
            <a:r>
              <a:rPr sz="2400" b="1">
                <a:solidFill>
                  <a:srgbClr val="FFFFFF"/>
                </a:solidFill>
                <a:latin typeface="Arial"/>
                <a:ea typeface="Arial"/>
                <a:cs typeface="Arial"/>
              </a:rPr>
              <a:t>What we seek</a:t>
            </a:r>
          </a:p>
        </p:txBody>
      </p:sp>
      <p:sp>
        <p:nvSpPr>
          <p:cNvPr id="8" name="">
            <a:extLst xmlns:a="http://schemas.openxmlformats.org/drawingml/2006/main">
              <a:ext uri="{FF2B5EF4-FFF2-40B4-BE49-F238E27FC236}">
                <a16:creationId xmlns:a16="http://schemas.microsoft.com/office/drawing/2014/main" id="{ABC1A586-9A55-4EFD-BC6B-313AAD40011C}"/>
              </a:ext>
            </a:extLst>
          </p:cNvPr>
          <p:cNvSpPr>
            <a:spLocks xmlns:a="http://schemas.openxmlformats.org/drawingml/2006/main" noGrp="1"/>
          </p:cNvSpPr>
          <p:nvPr/>
        </p:nvSpPr>
        <p:spPr>
          <a:xfrm xmlns:a="http://schemas.openxmlformats.org/drawingml/2006/main">
            <a:off x="7429500" y="2486025"/>
            <a:ext cx="4010025" cy="2628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DCEBFF"/>
                </a:solidFill>
                <a:latin typeface="Arial"/>
                <a:ea typeface="Arial"/>
                <a:cs typeface="Arial"/>
              </a:defRPr>
            </a:defPPr>
          </a:lstStyle>
          <a:p xmlns:a="http://schemas.openxmlformats.org/drawingml/2006/main">
            <a:pPr>
              <a:defRPr sz="2100" b="0">
                <a:solidFill>
                  <a:srgbClr val="DCEBFF"/>
                </a:solidFill>
                <a:latin typeface="Arial"/>
                <a:ea typeface="Arial"/>
                <a:cs typeface="Arial"/>
              </a:defRPr>
            </a:pPr>
            <a:r>
              <a:rPr sz="2100" b="0">
                <a:solidFill>
                  <a:srgbClr val="DCEBFF"/>
                </a:solidFill>
                <a:latin typeface="Arial"/>
                <a:ea typeface="Arial"/>
                <a:cs typeface="Arial"/>
              </a:rPr>
              <a:t>1. Older-adult research participants.</a:t>
            </a:r>
          </a:p>
          <a:p xmlns:a="http://schemas.openxmlformats.org/drawingml/2006/main">
            <a:r>
              <a:t/>
            </a:r>
          </a:p>
          <a:p xmlns:a="http://schemas.openxmlformats.org/drawingml/2006/main">
            <a:pPr>
              <a:defRPr sz="2100" b="0">
                <a:solidFill>
                  <a:srgbClr val="DCEBFF"/>
                </a:solidFill>
                <a:latin typeface="Arial"/>
                <a:ea typeface="Arial"/>
                <a:cs typeface="Arial"/>
              </a:defRPr>
            </a:pPr>
            <a:r>
              <a:rPr sz="2100" b="0">
                <a:solidFill>
                  <a:srgbClr val="DCEBFF"/>
                </a:solidFill>
                <a:latin typeface="Arial"/>
                <a:ea typeface="Arial"/>
                <a:cs typeface="Arial"/>
              </a:rPr>
              <a:t>2. Fraud-specialist feedback.</a:t>
            </a:r>
          </a:p>
          <a:p xmlns:a="http://schemas.openxmlformats.org/drawingml/2006/main">
            <a:r>
              <a:t/>
            </a:r>
          </a:p>
          <a:p xmlns:a="http://schemas.openxmlformats.org/drawingml/2006/main">
            <a:pPr>
              <a:defRPr sz="2100" b="0">
                <a:solidFill>
                  <a:srgbClr val="DCEBFF"/>
                </a:solidFill>
                <a:latin typeface="Arial"/>
                <a:ea typeface="Arial"/>
                <a:cs typeface="Arial"/>
              </a:defRPr>
            </a:pPr>
            <a:r>
              <a:rPr sz="2100" b="0">
                <a:solidFill>
                  <a:srgbClr val="DCEBFF"/>
                </a:solidFill>
                <a:latin typeface="Arial"/>
                <a:ea typeface="Arial"/>
                <a:cs typeface="Arial"/>
              </a:rPr>
              <a:t>3. A bank or credit union pilot partner.</a:t>
            </a:r>
          </a:p>
        </p:txBody>
      </p:sp>
      <p:sp>
        <p:nvSpPr>
          <p:cNvPr id="9" name="">
            <a:extLst xmlns:a="http://schemas.openxmlformats.org/drawingml/2006/main">
              <a:ext uri="{FF2B5EF4-FFF2-40B4-BE49-F238E27FC236}">
                <a16:creationId xmlns:a16="http://schemas.microsoft.com/office/drawing/2014/main" id="{D9639408-E931-4D1A-AE35-D3665F86EBDD}"/>
              </a:ext>
            </a:extLst>
          </p:cNvPr>
          <p:cNvSpPr>
            <a:spLocks xmlns:a="http://schemas.openxmlformats.org/drawingml/2006/main" noGrp="1"/>
          </p:cNvSpPr>
          <p:nvPr/>
        </p:nvSpPr>
        <p:spPr>
          <a:xfrm xmlns:a="http://schemas.openxmlformats.org/drawingml/2006/main">
            <a:off x="704850" y="5486400"/>
            <a:ext cx="107442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FFFFFF"/>
                </a:solidFill>
                <a:latin typeface="Arial"/>
                <a:ea typeface="Arial"/>
                <a:cs typeface="Arial"/>
              </a:defRPr>
            </a:defPPr>
          </a:lstStyle>
          <a:p xmlns:a="http://schemas.openxmlformats.org/drawingml/2006/main">
            <a:pPr>
              <a:defRPr sz="2175" b="1">
                <a:solidFill>
                  <a:srgbClr val="FFFFFF"/>
                </a:solidFill>
                <a:latin typeface="Arial"/>
                <a:ea typeface="Arial"/>
                <a:cs typeface="Arial"/>
              </a:defRPr>
            </a:pPr>
            <a:r>
              <a:rPr sz="2175" b="1">
                <a:solidFill>
                  <a:srgbClr val="FFFFFF"/>
                </a:solidFill>
                <a:latin typeface="Arial"/>
                <a:ea typeface="Arial"/>
                <a:cs typeface="Arial"/>
              </a:rPr>
              <a:t>Mission: reduce the money people lose to scams.</a:t>
            </a:r>
          </a:p>
        </p:txBody>
      </p:sp>
    </p:spTree>
    <p:extLst>
      <p:ext uri="{BB962C8B-B14F-4D97-AF65-F5344CB8AC3E}">
        <p14:creationId xmlns:p14="http://schemas.microsoft.com/office/powerpoint/2010/main" val="154655985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2026-10-09T06:26:47.6030000Z</dcterms:created>
  <dcterms:modified xsi:type="dcterms:W3CDTF">2026-10-09T06:26:47.6030000Z</dcterms:modified>
</coreProperties>
</file>