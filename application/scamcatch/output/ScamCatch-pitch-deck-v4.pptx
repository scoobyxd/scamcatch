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FTC, Protecting Older Consumers 2024-2025, report to Congress, December 2025: overall cost of fraud to older adults in 2024 estimated between $10.1B and $81.5B; reported losses rose from about $600M (2020) to $2.4B (2024), driven by losses over $100,000. https://www.ftc.gov/system/files/ftc_gov/pdf/P144400-OlderAdultsReportDec2025.pdf
FBI IC3 2024 data as reported by AARP: adults 60+ reported nearly $4.9B lost, 147,000+ complaints, average loss $83,000. https://www.aarp.org/money/scams-fraud/fbi-report-fraud-2024/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is the vision animation from scamcatch.io: illustrative, not live data. Voice cost reflects the pinned live voice model price of about $0.05 per minute (founder configuration). Text recognition runs on the phone with ML Kit. Bank-triggered calls,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 as of Oct 8, 2026: 0 users, 0 formal research studies, 0 pilots, 0 contracts, 0 customer commitments, $0 revenue. Prototype features per the project README and docs. The 90-day goals are proposed milestones for the founder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pre-revenue, $0 revenue, $0 MRR/ARR, $0 capital raised, not currently fundraising. Runway is the founder’s estimate at the current prototype scope (domain, hosting, and per-minute AI costs). Carefull pricing and funding: Coverager, Oct 11, 2023 ($29.99/month; $19.7M total raised).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Jonathan Kim is the sole founder, a software engineer, and a first-time founder. No other team members or advisors today. Learned about AgeTech through an email exchange with Lona Choi Allum; this is not an endorsement. Photo and goal line are from the About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12064"/>
            <a:ext cx="512064" cy="512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512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335024" y="822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spc="16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1572768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6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voice that speaks up before you send.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85800" y="400507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catches scams on the phone, in the moment, and opens a live AI voice that talks the person through it before any money moves.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120640"/>
            <a:ext cx="896112" cy="32004"/>
          </a:xfrm>
          <a:prstGeom prst="rect">
            <a:avLst/>
          </a:prstGeom>
          <a:solidFill>
            <a:srgbClr val="EEF0F7">
              <a:alpha val="1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5120640"/>
            <a:ext cx="896112" cy="32004"/>
          </a:xfrm>
          <a:prstGeom prst="rect">
            <a:avLst/>
          </a:prstGeom>
          <a:solidFill>
            <a:srgbClr val="F4C27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221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09928" y="5120640"/>
            <a:ext cx="896112" cy="32004"/>
          </a:xfrm>
          <a:prstGeom prst="rect">
            <a:avLst/>
          </a:prstGeom>
          <a:solidFill>
            <a:srgbClr val="EEF0F7">
              <a:alpha val="1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709928" y="5120640"/>
            <a:ext cx="896112" cy="32004"/>
          </a:xfrm>
          <a:prstGeom prst="rect">
            <a:avLst/>
          </a:prstGeom>
          <a:solidFill>
            <a:srgbClr val="F4C27A"/>
          </a:solidFill>
          <a:ln/>
        </p:spPr>
      </p:sp>
      <p:sp>
        <p:nvSpPr>
          <p:cNvPr id="12" name="Text 9"/>
          <p:cNvSpPr/>
          <p:nvPr/>
        </p:nvSpPr>
        <p:spPr>
          <a:xfrm>
            <a:off x="1709928" y="5221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34056" y="5120640"/>
            <a:ext cx="896112" cy="32004"/>
          </a:xfrm>
          <a:prstGeom prst="rect">
            <a:avLst/>
          </a:prstGeom>
          <a:solidFill>
            <a:srgbClr val="EEF0F7">
              <a:alpha val="1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734056" y="5120640"/>
            <a:ext cx="896112" cy="32004"/>
          </a:xfrm>
          <a:prstGeom prst="rect">
            <a:avLst/>
          </a:prstGeom>
          <a:solidFill>
            <a:srgbClr val="FF6F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34056" y="5221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58184" y="5120640"/>
            <a:ext cx="896112" cy="32004"/>
          </a:xfrm>
          <a:prstGeom prst="rect">
            <a:avLst/>
          </a:prstGeom>
          <a:solidFill>
            <a:srgbClr val="EEF0F7">
              <a:alpha val="1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758184" y="5221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5961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Jonathan Kim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Founder   ·   Mirae Opus LLC   ·   scamcatch.io</a:t>
            </a:r>
            <a:endParaRPr lang="en-US" sz="1250" dirty="0"/>
          </a:p>
        </p:txBody>
      </p:sp>
      <p:pic>
        <p:nvPicPr>
          <p:cNvPr id="19" name="Image 1" descr="/tmp/claude-0/v3x/ppt/media/image-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78" y="566928"/>
            <a:ext cx="2618804" cy="56692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612880" y="210312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1656314" y="214655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22" name="Text 18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Older Americans lost up to $81.5 billion to fraud in 2024.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4709160" cy="3611880"/>
          </a:xfrm>
          <a:prstGeom prst="roundRect">
            <a:avLst>
              <a:gd name="adj" fmla="val 5570"/>
            </a:avLst>
          </a:prstGeom>
          <a:solidFill>
            <a:srgbClr val="EEF0F7">
              <a:alpha val="4000"/>
            </a:srgbClr>
          </a:solidFill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487168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0" spc="-20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to fraud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0416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FTC’s upper estimate, counting the many scams that are never reported. Its very conservative floor is $10.1 billion.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48280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Reported to the FTC 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$2.4B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5065776"/>
            <a:ext cx="3977640" cy="118872"/>
          </a:xfrm>
          <a:prstGeom prst="roundRect">
            <a:avLst>
              <a:gd name="adj" fmla="val 50000"/>
            </a:avLst>
          </a:prstGeom>
          <a:solidFill>
            <a:srgbClr val="EEF0F7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5065776"/>
            <a:ext cx="162853" cy="118872"/>
          </a:xfrm>
          <a:prstGeom prst="roundRect">
            <a:avLst>
              <a:gd name="adj" fmla="val 50000"/>
            </a:avLst>
          </a:prstGeom>
          <a:solidFill>
            <a:srgbClr val="A9B1C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3035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Estimated, counting unreported scams 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to $81.5B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560" y="5541264"/>
            <a:ext cx="3977640" cy="118872"/>
          </a:xfrm>
          <a:prstGeom prst="roundRect">
            <a:avLst>
              <a:gd name="adj" fmla="val 50000"/>
            </a:avLst>
          </a:prstGeom>
          <a:solidFill>
            <a:srgbClr val="F4C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2286000"/>
            <a:ext cx="4617720" cy="0"/>
          </a:xfrm>
          <a:prstGeom prst="line">
            <a:avLst/>
          </a:prstGeom>
          <a:noFill/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43230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spc="-10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Reported losses grew from about $600 million in 2020 to $2.4 billion in 2024, driven by single losses over $100,000.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15000" y="3246120"/>
            <a:ext cx="4617720" cy="0"/>
          </a:xfrm>
          <a:prstGeom prst="line">
            <a:avLst/>
          </a:prstGeom>
          <a:noFill/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39242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spc="-10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$83K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132320" y="3429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reported loss per victim age 60+ in 2024, across more than 147,000 FBI complaints.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15000" y="4315968"/>
            <a:ext cx="4617720" cy="1581912"/>
          </a:xfrm>
          <a:prstGeom prst="roundRect">
            <a:avLst>
              <a:gd name="adj" fmla="val 11561"/>
            </a:avLst>
          </a:prstGeom>
          <a:solidFill>
            <a:srgbClr val="0C1124">
              <a:alpha val="70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GAP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07608" y="4818888"/>
            <a:ext cx="4032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scam has a moment when the person is alone with the scammer, deciding. Today’s defenses, like chargebacks, police reports and account monitoring, show up after the money is gone.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FTC, Protecting Older Consumers 2024–2025 (Dec. 2025); FBI IC3 2024 data as reported by AARP.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612880" y="237744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56314" y="242087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27" name="Text 25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44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 on the phone, then starts a conversation.</a:t>
            </a:r>
            <a:endParaRPr lang="en-US" sz="3600" dirty="0"/>
          </a:p>
        </p:txBody>
      </p:sp>
      <p:pic>
        <p:nvPicPr>
          <p:cNvPr id="4" name="Image 0" descr="/tmp/claude-0/v3x/ppt/media/image-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97" y="2121408"/>
            <a:ext cx="1148895" cy="2487168"/>
          </a:xfrm>
          <a:prstGeom prst="rect">
            <a:avLst/>
          </a:prstGeom>
        </p:spPr>
      </p:pic>
      <p:pic>
        <p:nvPicPr>
          <p:cNvPr id="5" name="Image 1" descr="/tmp/claude-0/render/out/tile-sc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645152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7320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reads the moment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13816" y="5340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text on screen in the apps people already use: texts, WhatsApp, Facebook.</a:t>
            </a:r>
            <a:endParaRPr lang="en-US" sz="1250" dirty="0"/>
          </a:p>
        </p:txBody>
      </p:sp>
      <p:pic>
        <p:nvPicPr>
          <p:cNvPr id="8" name="Image 2" descr="/tmp/claude-0/v3x/ppt/media/image-3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385" y="2121408"/>
            <a:ext cx="1148895" cy="2487168"/>
          </a:xfrm>
          <a:prstGeom prst="rect">
            <a:avLst/>
          </a:prstGeom>
        </p:spPr>
      </p:pic>
      <p:pic>
        <p:nvPicPr>
          <p:cNvPr id="9" name="Image 3" descr="/tmp/claude-0/render/out/tile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776" y="4645152"/>
            <a:ext cx="640080" cy="6400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36008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pattern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4032504" y="5340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AI model flags the signs: a new online relationship, urgency, secrecy, a request for money.</a:t>
            </a:r>
            <a:endParaRPr lang="en-US" sz="1250" dirty="0"/>
          </a:p>
        </p:txBody>
      </p:sp>
      <p:pic>
        <p:nvPicPr>
          <p:cNvPr id="12" name="Image 4" descr="/tmp/claude-0/v3x/ppt/media/image-3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073" y="2121408"/>
            <a:ext cx="1148895" cy="2487168"/>
          </a:xfrm>
          <a:prstGeom prst="rect">
            <a:avLst/>
          </a:prstGeom>
        </p:spPr>
      </p:pic>
      <p:pic>
        <p:nvPicPr>
          <p:cNvPr id="13" name="Image 5" descr="/tmp/claude-0/render/out/tile-or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464" y="4645152"/>
            <a:ext cx="640080" cy="6400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854696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calls you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7251192" y="5340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live AI voice opens, listens, asks questions, and helps the person check before any money moves.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3217063" y="3364992"/>
            <a:ext cx="1374849" cy="0"/>
          </a:xfrm>
          <a:prstGeom prst="line">
            <a:avLst/>
          </a:prstGeom>
          <a:noFill/>
          <a:ln w="22225">
            <a:solidFill>
              <a:srgbClr val="F4C27A"/>
            </a:solidFill>
            <a:prstDash val="solid"/>
            <a:tailEnd type="triangle"/>
          </a:ln>
        </p:spPr>
      </p:sp>
      <p:sp>
        <p:nvSpPr>
          <p:cNvPr id="17" name="Shape 9"/>
          <p:cNvSpPr/>
          <p:nvPr/>
        </p:nvSpPr>
        <p:spPr>
          <a:xfrm>
            <a:off x="6435751" y="3364992"/>
            <a:ext cx="1374849" cy="0"/>
          </a:xfrm>
          <a:prstGeom prst="line">
            <a:avLst/>
          </a:prstGeom>
          <a:noFill/>
          <a:ln w="22225">
            <a:solidFill>
              <a:srgbClr val="F4C27A"/>
            </a:solidFill>
            <a:prstDash val="solid"/>
            <a:tailEnd type="triangle"/>
          </a:ln>
        </p:spPr>
      </p:sp>
      <p:sp>
        <p:nvSpPr>
          <p:cNvPr id="18" name="Shape 10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19" name="Text 11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0" name="Shape 12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11612880" y="265176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11656314" y="269519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24" name="Text 16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0" name="Text 22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39" name="Image 6" descr="/tmp/claude-0/render/out/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88720" y="2816352"/>
            <a:ext cx="8641080" cy="0"/>
          </a:xfrm>
          <a:prstGeom prst="line">
            <a:avLst/>
          </a:prstGeom>
          <a:noFill/>
          <a:ln w="19050">
            <a:solidFill>
              <a:srgbClr val="A9B1C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29284" y="2756916"/>
            <a:ext cx="118872" cy="118872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093976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7500" y="2756916"/>
            <a:ext cx="118872" cy="118872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3822192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07992" y="2679192"/>
            <a:ext cx="274320" cy="274320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6572" y="2747772"/>
            <a:ext cx="137160" cy="137160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50408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2679192"/>
            <a:ext cx="274320" cy="274320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04788" y="2747772"/>
            <a:ext cx="137160" cy="137160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78624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2148" y="2756916"/>
            <a:ext cx="118872" cy="118872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70364" y="2756916"/>
            <a:ext cx="118872" cy="118872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78224" y="3054096"/>
            <a:ext cx="2862072" cy="384048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078224" y="305409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steps in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3054096"/>
            <a:ext cx="1207008" cy="384048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98080" y="30540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alerts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26296" y="3054096"/>
            <a:ext cx="1207008" cy="384048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226296" y="30540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767328"/>
            <a:ext cx="2274570" cy="2286000"/>
          </a:xfrm>
          <a:prstGeom prst="roundRect">
            <a:avLst>
              <a:gd name="adj" fmla="val 804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23544" y="4014216"/>
            <a:ext cx="1817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e.g. Carefull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" y="4334256"/>
            <a:ext cx="2000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Account monitoring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3544" y="4791456"/>
            <a:ext cx="185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Watches accounts and alerts family after transactions happen.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43250" y="3767328"/>
            <a:ext cx="2274570" cy="2286000"/>
          </a:xfrm>
          <a:prstGeom prst="roundRect">
            <a:avLst>
              <a:gd name="adj" fmla="val 804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380994" y="4014216"/>
            <a:ext cx="1817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e.g. ZoraSafe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0994" y="4334256"/>
            <a:ext cx="2000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 checkers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380994" y="4791456"/>
            <a:ext cx="185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Help only if the person already suspects a scam and stops to ask.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00700" y="3767328"/>
            <a:ext cx="2274570" cy="2286000"/>
          </a:xfrm>
          <a:prstGeom prst="roundRect">
            <a:avLst>
              <a:gd name="adj" fmla="val 804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838444" y="4014216"/>
            <a:ext cx="1817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 payment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38444" y="4334256"/>
            <a:ext cx="2000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Bank fraud alerts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838444" y="4791456"/>
            <a:ext cx="185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Arrive after the person has decided. Scammers often coach victims to wave them off.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58150" y="3767328"/>
            <a:ext cx="2274570" cy="2286000"/>
          </a:xfrm>
          <a:prstGeom prst="roundRect">
            <a:avLst>
              <a:gd name="adj" fmla="val 8040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95894" y="4027932"/>
            <a:ext cx="155448" cy="155448"/>
          </a:xfrm>
          <a:prstGeom prst="ellipse">
            <a:avLst/>
          </a:prstGeom>
          <a:ln w="13970">
            <a:solidFill>
              <a:srgbClr val="7AB0FF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4756" y="4066794"/>
            <a:ext cx="77724" cy="7772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40" name="Text 38"/>
          <p:cNvSpPr/>
          <p:nvPr/>
        </p:nvSpPr>
        <p:spPr>
          <a:xfrm>
            <a:off x="8524494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the conversation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5894" y="4334256"/>
            <a:ext cx="2000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295894" y="4791456"/>
            <a:ext cx="185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Notices the scam in the chat itself, speaks first, and helps the person reach the answer on their own.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1612880" y="292608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656314" y="296951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51" name="Text 49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64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66" name="Text 63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069336" cy="2743200"/>
          </a:xfrm>
          <a:prstGeom prst="roundRect">
            <a:avLst>
              <a:gd name="adj" fmla="val 7333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78024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8408" y="3310128"/>
            <a:ext cx="252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8408" y="4069080"/>
            <a:ext cx="2520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974592" y="2286000"/>
            <a:ext cx="3069336" cy="2743200"/>
          </a:xfrm>
          <a:prstGeom prst="roundRect">
            <a:avLst>
              <a:gd name="adj" fmla="val 7333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328" y="2478024"/>
            <a:ext cx="749808" cy="749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67200" y="3310128"/>
            <a:ext cx="252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267200" y="4069080"/>
            <a:ext cx="2520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263384" y="2286000"/>
            <a:ext cx="3069336" cy="2743200"/>
          </a:xfrm>
          <a:prstGeom prst="roundRect">
            <a:avLst>
              <a:gd name="adj" fmla="val 7333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120" y="2478024"/>
            <a:ext cx="749808" cy="7498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55992" y="3310128"/>
            <a:ext cx="252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555992" y="4069080"/>
            <a:ext cx="2520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" y="5349240"/>
            <a:ext cx="964692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504688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11612880" y="320040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11656314" y="324383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28" name="Text 23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39" name="Image 3" descr="/tmp/claude-0/render/out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00228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95728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69417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08120" y="2286000"/>
            <a:ext cx="300228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8120" y="2395728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008120" y="3383280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08120" y="369417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30440" y="2286000"/>
            <a:ext cx="300228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0440" y="2395728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330440" y="3383280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30440" y="3694176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224528"/>
            <a:ext cx="9646920" cy="1691640"/>
          </a:xfrm>
          <a:prstGeom prst="roundRect">
            <a:avLst>
              <a:gd name="adj" fmla="val 11892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480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6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60520" y="45537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60520" y="48828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5468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Illustrative pricing. We will set real prices in pilots.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612880" y="347472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56314" y="351815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34" name="Text 32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43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vision-map-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6492240" cy="30576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179061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546811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 One frontline layer of many, alongside banks, carriers, family and law enforcement.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255764" y="1143000"/>
            <a:ext cx="0" cy="3840480"/>
          </a:xfrm>
          <a:prstGeom prst="line">
            <a:avLst/>
          </a:prstGeom>
          <a:noFill/>
          <a:ln w="15875">
            <a:solidFill>
              <a:srgbClr val="A9B1CC">
                <a:alpha val="40000"/>
              </a:srgbClr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7178040" y="946404"/>
            <a:ext cx="155448" cy="155448"/>
          </a:xfrm>
          <a:prstGeom prst="ellipse">
            <a:avLst/>
          </a:prstGeom>
          <a:ln w="13970">
            <a:solidFill>
              <a:srgbClr val="7AB0FF">
                <a:alpha val="6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16902" y="985266"/>
            <a:ext cx="77724" cy="7772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0" name="Text 7"/>
          <p:cNvSpPr/>
          <p:nvPr/>
        </p:nvSpPr>
        <p:spPr>
          <a:xfrm>
            <a:off x="7470648" y="923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6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70648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Android app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70648" y="15179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Catches scams in any app, right on the phone.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78040" y="2226564"/>
            <a:ext cx="155448" cy="155448"/>
          </a:xfrm>
          <a:prstGeom prst="ellipse">
            <a:avLst/>
          </a:prstGeom>
          <a:solidFill>
            <a:srgbClr val="10162B"/>
          </a:solidFill>
          <a:ln/>
        </p:spPr>
      </p:sp>
      <p:sp>
        <p:nvSpPr>
          <p:cNvPr id="14" name="Shape 11"/>
          <p:cNvSpPr/>
          <p:nvPr/>
        </p:nvSpPr>
        <p:spPr>
          <a:xfrm>
            <a:off x="7196328" y="2244852"/>
            <a:ext cx="118872" cy="118872"/>
          </a:xfrm>
          <a:prstGeom prst="ellipse">
            <a:avLst/>
          </a:prstGeom>
          <a:ln w="15875">
            <a:solidFill>
              <a:srgbClr val="A9B1CC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0648" y="22037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6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70648" y="2468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Bank-triggered calls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70648" y="27980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risky payment at a partner bank starts a ScamCatch call first.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78040" y="3506724"/>
            <a:ext cx="155448" cy="155448"/>
          </a:xfrm>
          <a:prstGeom prst="ellipse">
            <a:avLst/>
          </a:prstGeom>
          <a:solidFill>
            <a:srgbClr val="10162B"/>
          </a:solidFill>
          <a:ln/>
        </p:spPr>
      </p:sp>
      <p:sp>
        <p:nvSpPr>
          <p:cNvPr id="19" name="Shape 16"/>
          <p:cNvSpPr/>
          <p:nvPr/>
        </p:nvSpPr>
        <p:spPr>
          <a:xfrm>
            <a:off x="7196328" y="3525012"/>
            <a:ext cx="118872" cy="118872"/>
          </a:xfrm>
          <a:prstGeom prst="ellipse">
            <a:avLst/>
          </a:prstGeom>
          <a:ln w="15875">
            <a:solidFill>
              <a:srgbClr val="A9B1CC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70648" y="3483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6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70648" y="3749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phone in America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70648" y="40782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the person’s OK, alerts go to their bank, the authorities, family and community.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178040" y="4786884"/>
            <a:ext cx="155448" cy="155448"/>
          </a:xfrm>
          <a:prstGeom prst="ellipse">
            <a:avLst/>
          </a:prstGeom>
          <a:solidFill>
            <a:srgbClr val="10162B"/>
          </a:solidFill>
          <a:ln/>
        </p:spPr>
      </p:sp>
      <p:sp>
        <p:nvSpPr>
          <p:cNvPr id="24" name="Shape 21"/>
          <p:cNvSpPr/>
          <p:nvPr/>
        </p:nvSpPr>
        <p:spPr>
          <a:xfrm>
            <a:off x="7196328" y="4805172"/>
            <a:ext cx="118872" cy="118872"/>
          </a:xfrm>
          <a:prstGeom prst="ellipse">
            <a:avLst/>
          </a:prstGeom>
          <a:ln w="15875">
            <a:solidFill>
              <a:srgbClr val="A9B1CC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70648" y="4764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6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BEYOND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70648" y="5029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Fighting back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470648" y="53583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AI decoy ties up the scammer. Crypto tracing follows the money to the exchange.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1612880" y="374904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656314" y="379247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42" name="Text 39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49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working product, built solo. Customers come next.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WHAT’S BUILT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2523744"/>
            <a:ext cx="475488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6" name="Image 0" descr="/tmp/claude-0/render/out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066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679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Android 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4712" y="297180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the screen in any app, with the person’s consent.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3346704"/>
            <a:ext cx="475488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0" name="Image 1" descr="/tmp/claude-0/render/out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95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3502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scam detection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24712" y="379476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Flags scam patterns in the text the person is reading.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5800" y="4169664"/>
            <a:ext cx="475488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4" name="Image 2" descr="/tmp/claude-0/render/out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525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4325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Live AI voice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24712" y="461772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Opens when a scam is flagged and talks the person through it.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85800" y="4992624"/>
            <a:ext cx="475488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8" name="Image 3" descr="/tmp/claude-0/render/out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755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5148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Public live demo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24712" y="544068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scamcatch.io: 8 real-world scams and a live AI voice anyone can try.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715000" y="2240280"/>
            <a:ext cx="4617720" cy="2103120"/>
          </a:xfrm>
          <a:prstGeom prst="roundRect">
            <a:avLst>
              <a:gd name="adj" fmla="val 10435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007608" y="2510028"/>
            <a:ext cx="155448" cy="155448"/>
          </a:xfrm>
          <a:prstGeom prst="ellipse">
            <a:avLst/>
          </a:prstGeom>
          <a:ln w="13970">
            <a:solidFill>
              <a:srgbClr val="7AB0FF">
                <a:alpha val="6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46470" y="2548890"/>
            <a:ext cx="77724" cy="7772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24" name="Text 18"/>
          <p:cNvSpPr/>
          <p:nvPr/>
        </p:nvSpPr>
        <p:spPr>
          <a:xfrm>
            <a:off x="6236208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007608" y="2807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4400" dirty="0"/>
          </a:p>
        </p:txBody>
      </p:sp>
      <p:sp>
        <p:nvSpPr>
          <p:cNvPr id="26" name="Text 20"/>
          <p:cNvSpPr/>
          <p:nvPr/>
        </p:nvSpPr>
        <p:spPr>
          <a:xfrm>
            <a:off x="6007608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users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059168" y="2807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4400" dirty="0"/>
          </a:p>
        </p:txBody>
      </p:sp>
      <p:sp>
        <p:nvSpPr>
          <p:cNvPr id="28" name="Text 22"/>
          <p:cNvSpPr/>
          <p:nvPr/>
        </p:nvSpPr>
        <p:spPr>
          <a:xfrm>
            <a:off x="7059168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110728" y="2807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4400" dirty="0"/>
          </a:p>
        </p:txBody>
      </p:sp>
      <p:sp>
        <p:nvSpPr>
          <p:cNvPr id="30" name="Text 24"/>
          <p:cNvSpPr/>
          <p:nvPr/>
        </p:nvSpPr>
        <p:spPr>
          <a:xfrm>
            <a:off x="8110728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contracts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162288" y="2807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endParaRPr lang="en-US" sz="4400" dirty="0"/>
          </a:p>
        </p:txBody>
      </p:sp>
      <p:sp>
        <p:nvSpPr>
          <p:cNvPr id="32" name="Text 26"/>
          <p:cNvSpPr/>
          <p:nvPr/>
        </p:nvSpPr>
        <p:spPr>
          <a:xfrm>
            <a:off x="9162288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007608" y="37856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Pre-launch, and we say so plainly. The product works. Now it needs people.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5715000" y="4526280"/>
            <a:ext cx="4617720" cy="1417320"/>
          </a:xfrm>
          <a:prstGeom prst="roundRect">
            <a:avLst>
              <a:gd name="adj" fmla="val 15484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35" name="Text 29"/>
          <p:cNvSpPr/>
          <p:nvPr/>
        </p:nvSpPr>
        <p:spPr>
          <a:xfrm>
            <a:off x="6007608" y="4727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007608" y="501091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 the voice with 25 older adults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Sign a first credit union pilot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Measure how often people pause and verify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11612880" y="402336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11656314" y="406679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53" name="Text 47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5" name="Text 49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57" name="Text 51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58" name="Image 4" descr="/tmp/claude-0/render/out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60" name="Text 53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 MODEL AND FUNDING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Institutions license it. Families can buy it directly.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4572000" cy="1417320"/>
          </a:xfrm>
          <a:prstGeom prst="roundRect">
            <a:avLst>
              <a:gd name="adj" fmla="val 14194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468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Institutional license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8408" y="28620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Banks, credit unions and senior living pay per protected member per month, and offer ScamCatch free to their older customers.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4572000" cy="896112"/>
          </a:xfrm>
          <a:prstGeom prst="roundRect">
            <a:avLst>
              <a:gd name="adj" fmla="val 22449"/>
            </a:avLst>
          </a:prstGeom>
          <a:solidFill>
            <a:srgbClr val="EEF0F7">
              <a:alpha val="4000"/>
            </a:srgbClr>
          </a:solidFill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9867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Family plan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4352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subscribe on behalf of a parent.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4965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WE BELIEVE THEY’LL PAY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24865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Families already pay $29.99 a month for after-the-fact monitoring (Carefull, 2023).</a:t>
            </a:r>
            <a:endParaRPr lang="en-US" sz="1250" dirty="0"/>
          </a:p>
          <a:p>
            <a:pPr marL="177800" indent="-1778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Investors have put $19.7 million into that one company alone.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0" y="2286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THE MONEY STANDS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2633472"/>
            <a:ext cx="457200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0" y="2834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Pre-revenue: $0, with $0 MRR and ARR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760720" y="3291840"/>
            <a:ext cx="457200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Raised to date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0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$0, founder-funded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760720" y="3950208"/>
            <a:ext cx="457200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4151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Raising now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0" y="4151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760720" y="4608576"/>
            <a:ext cx="457200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809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Runway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48097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Ongoing at prototype scale. Costs are low: hosting and per-minute AI.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760720" y="5504688"/>
            <a:ext cx="4572000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612880" y="429768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656314" y="434111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44" name="Text 42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1671402" y="46305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pic>
        <p:nvPicPr>
          <p:cNvPr id="47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228600" cy="2286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987552" y="62636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builder, a clear mission, and a short list of asks.</a:t>
            </a:r>
            <a:endParaRPr lang="en-US" sz="3600" dirty="0"/>
          </a:p>
        </p:txBody>
      </p:sp>
      <p:pic>
        <p:nvPicPr>
          <p:cNvPr id="4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36648"/>
            <a:ext cx="2895600" cy="3390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55848" y="2212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Jonathan Kim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355848" y="2761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Founder  ·  Software engineer  ·  First-time founder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55848" y="31546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every piece of ScamCatch himself: the Android app, the AI detection pipeline, the live voice, and the cloud behind scamcatch.io.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55848" y="42793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Advisors: none yet. The first seats to fill are a bank fraud-operations lead and an aging researcher.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12280" y="2212848"/>
            <a:ext cx="3520440" cy="2834640"/>
          </a:xfrm>
          <a:prstGeom prst="roundRect">
            <a:avLst>
              <a:gd name="adj" fmla="val 7742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4888" y="2432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9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WE’RE ASKING FOR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04888" y="2752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525512" y="2788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Older adults to test ScamCatch and tell us the truth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04888" y="3483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525512" y="3520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bank or credit union pilot partner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04888" y="42153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525512" y="4251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Mentorship through the AgeTech Collaborative accelerator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5285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2800" b="1" spc="-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28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685800" y="6053328"/>
            <a:ext cx="964692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9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9963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6190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760720" y="6217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1671402" y="21616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990295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1671402" y="24359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990295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11671402" y="27102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9902952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1671402" y="29846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9902952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11671402" y="325892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990295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it’s for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11671402" y="353324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9902952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market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11671402" y="380756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9902952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11671402" y="408188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9902952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11671402" y="4356202"/>
            <a:ext cx="65837" cy="65837"/>
          </a:xfrm>
          <a:prstGeom prst="ellipse">
            <a:avLst/>
          </a:prstGeom>
          <a:solidFill>
            <a:srgbClr val="EEF0F7">
              <a:alpha val="34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9902952" y="4297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business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11612880" y="4572000"/>
            <a:ext cx="182880" cy="182880"/>
          </a:xfrm>
          <a:prstGeom prst="ellipse">
            <a:avLst/>
          </a:prstGeom>
          <a:solidFill>
            <a:srgbClr val="F4C27A">
              <a:alpha val="20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1656314" y="4615434"/>
            <a:ext cx="96012" cy="96012"/>
          </a:xfrm>
          <a:prstGeom prst="ellipse">
            <a:avLst/>
          </a:prstGeom>
          <a:solidFill>
            <a:srgbClr val="F4C27A"/>
          </a:solidFill>
          <a:ln/>
        </p:spPr>
      </p:sp>
      <p:sp>
        <p:nvSpPr>
          <p:cNvPr id="42" name="Text 38"/>
          <p:cNvSpPr/>
          <p:nvPr/>
        </p:nvSpPr>
        <p:spPr>
          <a:xfrm>
            <a:off x="9902952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11247120" y="62910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39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2026-10-12T23:49:42Z</dcterms:created>
  <dcterms:modified xsi:type="dcterms:W3CDTF">2026-10-12T23:49:42Z</dcterms:modified>
</cp:coreProperties>
</file>