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ScamCatch, a product of Mirae Opus LLC (California). Phone image: the live demo at scamcatch.io, showing the ScamCatch warning on a romance-investment scam.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AARP (May 2023): as many as 20 million Americans may have lost money to fraud in 2021; 81% of identified victims did not acknowledge it a year later. https://blog.aarp.org/fighting-for-you/aarp-survey-8-in-10-fraud-victims-may-not-know-theyve-experienced-a-scam
FBI IC3 2024: 147,127 complaints from people 60+, $4.885B in reported losses. https://cyberscoop.com/fbi-ic3-cybercrime-report-2024-key-statistics-trends/
AARP BankSafe with NORC: older Americans lose an estimated $28.3B a year to financial exploitation; about $20.5B is likely never reported. https://blog.aarp.org/fighting-for-you/elder-financial-exploitation-cost
AARP Fraud Watch Network and FINRA Investor Education Foundation, Blame and Shame in the Context of Financial Fraud (July 2022), survey of 1,000 U.S. adults: 85% believe fraud can happen to anyone; 53% identify victims as culpable and blameworthy; 32% agreed 'Honestly, if you fall victim ... a lot of that is on you'; 47% think reporting a scam is a lost cause. https://www.aarp.org/money/scams-fraud/info-2022/victim-blaming.html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are from the live demo at scamcatch.io. The Android prototype reads on-screen text with consent (on-device OCR), runs AI scam detection on that text, and opens a live AI voice warning when a check is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and four steps are the vision section of scamcatch.io: illustrative, not live data. Today the Android prototype does steps 1 and 2 (it reads on-screen text with consent, flags likely scams, and opens a live AI voice). Alerts to banks, authorities and trusted contacts, and tracing funds, are future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Carefull: financial monitoring and alerts, with view-only access for trusted contacts (getcarefull.com, checked Oct 8, 2026). ZoraSafe: suspicious-content checks with risk explanations and next steps (zorasafe.com, checked Oct 8, 2026).
Voice examples are from the voice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 Dec 2025: $10.1B-$81.5B overall cost of fraud to older adults in 2024. US Census Bureau Vintage 2024: 61.2M adults 65+. FDIC Quarterly Banking Profile Q2 2026: 4,238 insured institutions (ABA Banking Journal). NCUA Quarterly Data Summary Q2 2026: 4,214 federally insured credit unions, 146.1M members. Revenue figures are illustrative: $1 x 12 months x 61.2M = $734.4M; $1 x 12 x 20,000 = $240,000. Pricing is not validated.
Map is the vision animation from scamcatch.io: illustrative, not live data. Voice cost reflects the pinned live voice model price of about $0.05 per minute (founder configuration). Text recognition runs on the phone with ML Kit. Bank-triggered interventions, consent-based reports to banks, authorities, trusted contacts and the community, the AI decoy that ties up scammers, and crypto tracing are vision features,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Founder-identified buyers and channels: banks, credit unions, senior living communities, and adult children of older parents. Credit unions are proposed as the first buyer to pursue; pricing and the first paying buyer will be validated in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Founder-confirmed: Jonathan Kim is the sole founder, a software engineer, and a first-time founder. No other team members or advisors today. Learned about AgeTech through an email exchange with Lona Choi Allum; this is not an endorsement. Photo and goal line are from the About section of scamcatch.io.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render/out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92024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5152" y="1865376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200" spc="-12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690872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spc="3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 INTERVENTION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92808" y="38404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catches scams on the phone, in the moment, and opens a live AI voice that talks the person through it before any money moves.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Anyone can be scammed. Most victims never report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 million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may have lost money to fraud in a single year.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147,127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428744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fraud complaints from people 60+ reached the FBI in 2024, with $4.9 billion lost.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28744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FBI IC3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8600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4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 in 4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171688" y="3200400"/>
            <a:ext cx="3240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dollars stolen from older Americans are likely never reported: $20.5B of $28.3B a year.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71688" y="4041648"/>
            <a:ext cx="3331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AARP BankSafe &amp; NORC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10817352" cy="1554480"/>
          </a:xfrm>
          <a:prstGeom prst="roundRect">
            <a:avLst>
              <a:gd name="adj" fmla="val 12941"/>
            </a:avLst>
          </a:prstGeom>
          <a:solidFill>
            <a:srgbClr val="0C1124">
              <a:alpha val="65000"/>
            </a:srgbClr>
          </a:solidFill>
          <a:ln w="15875">
            <a:solidFill>
              <a:srgbClr val="FF2E4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817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F6F6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BELIEF THAT KEEPS VICTIMS QUIET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499262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“Honestly, if you fall victim … a lot of that is on you.”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5705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32% of Americans agree.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53%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7512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see scam victims as blameworthy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9828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FF6F6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47%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098280" y="5486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think reporting a scam is a lost cause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10819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Sources: AARP fraud survey (2021 losses, published 2023); FBI IC3 Internet Crime Report 2024; AARP BankSafe Initiative with NORC; AARP Fraud Watch Network &amp; FINRA Foundation, “Blame and Shame in the Context of Financial Fraud” (2022).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catches the scam, then it intervenes.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4414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16152" y="2514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spots the scam on screen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6152" y="293522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permission, it reads the chat in apps people already use, like texts, WhatsApp and Facebook, and flags the warning signs.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9502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216152" y="40233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 a live AI voice intervenes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444398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listens, asks questions, and helps the person check before any money moves.</a:t>
            </a:r>
            <a:endParaRPr lang="en-US" sz="1400" dirty="0"/>
          </a:p>
        </p:txBody>
      </p:sp>
      <p:pic>
        <p:nvPicPr>
          <p:cNvPr id="10" name="Image 0" descr="/tmp/claude-0/v3x/ppt/media/image-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833" y="1024128"/>
            <a:ext cx="2280894" cy="4937760"/>
          </a:xfrm>
          <a:prstGeom prst="rect">
            <a:avLst/>
          </a:prstGeom>
        </p:spPr>
      </p:pic>
      <p:pic>
        <p:nvPicPr>
          <p:cNvPr id="11" name="Image 1" descr="/tmp/claude-0/render/out/phone-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13" y="1024128"/>
            <a:ext cx="2280894" cy="4937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warning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778240" y="6071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   </a:t>
            </a:r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voice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VISION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first line of defense on every phone in America.</a:t>
            </a:r>
            <a:endParaRPr lang="en-US" sz="3600" dirty="0"/>
          </a:p>
        </p:txBody>
      </p:sp>
      <p:pic>
        <p:nvPicPr>
          <p:cNvPr id="4" name="Image 0" descr="/tmp/claude-0/render/out/tl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566928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scammer messages you.</a:t>
            </a:r>
            <a:endParaRPr lang="en-US" sz="1150" dirty="0"/>
          </a:p>
        </p:txBody>
      </p:sp>
      <p:pic>
        <p:nvPicPr>
          <p:cNvPr id="7" name="Image 1" descr="/tmp/claude-0/render/out/tl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642" y="566928"/>
            <a:ext cx="566928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07858" y="854964"/>
            <a:ext cx="774954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04938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intervenes and opens a voice chat.</a:t>
            </a:r>
            <a:endParaRPr lang="en-US" sz="1150" dirty="0"/>
          </a:p>
        </p:txBody>
      </p:sp>
      <p:pic>
        <p:nvPicPr>
          <p:cNvPr id="10" name="Image 2" descr="/tmp/claude-0/render/out/tl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380" y="566928"/>
            <a:ext cx="1133856" cy="5669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907524" y="854964"/>
            <a:ext cx="208026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837676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your OK, it alerts your bank, the authorities, and your trusted contacts.</a:t>
            </a:r>
            <a:endParaRPr lang="en-US" sz="1150" dirty="0"/>
          </a:p>
        </p:txBody>
      </p:sp>
      <p:pic>
        <p:nvPicPr>
          <p:cNvPr id="13" name="Image 3" descr="/tmp/claude-0/render/out/tl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8" y="566928"/>
            <a:ext cx="566928" cy="5669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70414" y="1243584"/>
            <a:ext cx="12047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Trace &amp; investigate to help get back lost funds.</a:t>
            </a:r>
            <a:endParaRPr lang="en-US" sz="1150" dirty="0"/>
          </a:p>
        </p:txBody>
      </p:sp>
      <p:pic>
        <p:nvPicPr>
          <p:cNvPr id="15" name="Image 4" descr="/tmp/claude-0/render/out/vision-map-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081" y="2212848"/>
            <a:ext cx="8348551" cy="3931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" y="6053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Illustration from scamcatch.io, not live data.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SETS US APART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Other tools act after the decision. ScamCatch acts during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34440" y="2670048"/>
            <a:ext cx="9720072" cy="0"/>
          </a:xfrm>
          <a:prstGeom prst="line">
            <a:avLst/>
          </a:prstGeom>
          <a:noFill/>
          <a:ln w="19050">
            <a:solidFill>
              <a:srgbClr val="A9B1CC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First contact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70432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7" name="Text 5"/>
          <p:cNvSpPr/>
          <p:nvPr/>
        </p:nvSpPr>
        <p:spPr>
          <a:xfrm>
            <a:off x="2264054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Trust builds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14446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9" name="Text 7"/>
          <p:cNvSpPr/>
          <p:nvPr/>
        </p:nvSpPr>
        <p:spPr>
          <a:xfrm>
            <a:off x="4208069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6165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49317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152083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decision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20179" y="2523744"/>
            <a:ext cx="292608" cy="292608"/>
          </a:xfrm>
          <a:prstGeom prst="ellipse">
            <a:avLst/>
          </a:prstGeom>
          <a:solidFill>
            <a:srgbClr val="7AB0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93331" y="2596896"/>
            <a:ext cx="146304" cy="146304"/>
          </a:xfrm>
          <a:prstGeom prst="ellipse">
            <a:avLst/>
          </a:prstGeom>
          <a:solidFill>
            <a:srgbClr val="7AB0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098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Money moves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46490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40112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Loss reported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890504" y="2606040"/>
            <a:ext cx="128016" cy="128016"/>
          </a:xfrm>
          <a:prstGeom prst="ellipse">
            <a:avLst/>
          </a:prstGeom>
          <a:solidFill>
            <a:srgbClr val="A9B1C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50969" y="2926080"/>
            <a:ext cx="3087014" cy="402336"/>
          </a:xfrm>
          <a:prstGeom prst="roundRect">
            <a:avLst>
              <a:gd name="adj" fmla="val 50000"/>
            </a:avLst>
          </a:prstGeom>
          <a:solidFill>
            <a:srgbClr val="3D6D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50969" y="2926080"/>
            <a:ext cx="30870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ScamCatch speaks up here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0670" y="2926080"/>
            <a:ext cx="160020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8100670" y="29260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Bank fraud alerts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88652" y="2926080"/>
            <a:ext cx="1783080" cy="402336"/>
          </a:xfrm>
          <a:prstGeom prst="roundRect">
            <a:avLst>
              <a:gd name="adj" fmla="val 50000"/>
            </a:avLst>
          </a:prstGeom>
          <a:ln w="15875">
            <a:solidFill>
              <a:srgbClr val="EEF0F7">
                <a:alpha val="26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788652" y="292608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Account monitoring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52958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Monitoring tools like Carefull alert family after transactions happen. Scam checkers like ZoraSafe only help if the person already suspects a scam and stops to ask. Scammers often coach victims to wave off bank alerts.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42062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43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7AB0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TALKS LIKE SOMEONE WHO’S ON YOUR SIDE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listens before it warns.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“That sounds like someone who means a lot to you. How did you two meet?”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28744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gives a reason to check, not a verdict.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28744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“Before anything moves, let’s look up that platform together.”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71688" y="4681728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person stays in charge.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1688" y="50292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“You decide who else hears about this, if anyone.”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MARKET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problem worth billions, with a clear channel to reach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$81.5B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lost by Americans 60+ in 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FTC upper estimate; floor $10.1B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28744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61.2M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428744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Americans age 65 and older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8744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Census Bureau, 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71688" y="2176272"/>
            <a:ext cx="3331464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688" y="2267712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6000" spc="-1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8,452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171688" y="3246120"/>
            <a:ext cx="3331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U.S. banks and credit unions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71688" y="3584448"/>
            <a:ext cx="3331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FDIC and NCUA, mid-2026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800"/>
            <a:ext cx="10817352" cy="1463040"/>
          </a:xfrm>
          <a:prstGeom prst="roundRect">
            <a:avLst>
              <a:gd name="adj" fmla="val 13750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33272" y="4297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400" spc="-150" kern="0" dirty="0">
                <a:solidFill>
                  <a:srgbClr val="7AB0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$734M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51560" y="5120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year in revenue potential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43400" y="4389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If institutions pay $1 per protected senior per month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3400" y="4754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across 61.2 million Americans 65+. One credit union with 20,000 members 65+ would be $240,000 a year. Illustrative pricing; we will set real prices in pilots.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to scale.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Text recognition runs on the phone. The AI voice costs about 5 cents a minute and only runs when a scam is flagged.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TARGET CUSTOMER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Built for older adults. Paid for by those who protect them.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F4C27A">
              <a:alpha val="7000"/>
            </a:srgbClr>
          </a:solidFill>
          <a:ln w="12700">
            <a:solidFill>
              <a:srgbClr val="F4C27A">
                <a:alpha val="42000"/>
              </a:srgbClr>
            </a:solidFill>
            <a:prstDash val="solid"/>
          </a:ln>
        </p:spPr>
      </p:sp>
      <p:pic>
        <p:nvPicPr>
          <p:cNvPr id="5" name="Image 0" descr="/tmp/claude-0/render/out/icon-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95728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984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person we protect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4984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Adults 60+ who live on their phones: texts, WhatsApp, Facebook. We start with Android users.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3024" y="2194560"/>
            <a:ext cx="3422904" cy="3200400"/>
          </a:xfrm>
          <a:prstGeom prst="roundRect">
            <a:avLst>
              <a:gd name="adj" fmla="val 6286"/>
            </a:avLst>
          </a:prstGeom>
          <a:solidFill>
            <a:srgbClr val="7AB0FF">
              <a:alpha val="9000"/>
            </a:srgbClr>
          </a:solidFill>
          <a:ln w="12700">
            <a:solidFill>
              <a:srgbClr val="7AB0FF">
                <a:alpha val="38000"/>
              </a:srgbClr>
            </a:solidFill>
            <a:prstDash val="solid"/>
          </a:ln>
        </p:spPr>
      </p:sp>
      <p:pic>
        <p:nvPicPr>
          <p:cNvPr id="9" name="Image 1" descr="/tmp/claude-0/render/out/icon-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92" y="2395728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2208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First buyer: banks and credit unions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12208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want to stop fraud before the payment and keep their members’ trust. ScamCatch gives them a voice in that moment.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80248" y="2194560"/>
            <a:ext cx="3422904" cy="3200400"/>
          </a:xfrm>
          <a:prstGeom prst="roundRect">
            <a:avLst>
              <a:gd name="adj" fmla="val 6286"/>
            </a:avLst>
          </a:prstGeom>
          <a:ln w="15875">
            <a:solidFill>
              <a:srgbClr val="EEF0F7">
                <a:alpha val="24000"/>
              </a:srgbClr>
            </a:solidFill>
            <a:prstDash val="dash"/>
          </a:ln>
        </p:spPr>
      </p:sp>
      <p:pic>
        <p:nvPicPr>
          <p:cNvPr id="13" name="Image 2" descr="/tmp/claude-0/render/out/icon-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16" y="2395728"/>
            <a:ext cx="822960" cy="8229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9432" y="3291840"/>
            <a:ext cx="282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8000"/>
              </a:lnSpc>
              <a:buNone/>
            </a:pPr>
            <a:r>
              <a:rPr lang="en-US" sz="22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Also: families and senior living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09432" y="4114800"/>
            <a:ext cx="2828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Adult children who want a safety net for Mom or Dad, and senior living communities protecting their residents.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5577840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6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5800" y="5705856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Beachhead   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Community credit unions, which are member-owned and close to the older people they serve.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0954512" y="6291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spc="200" kern="0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TEAM AND ADVISORS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spc="-7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builder, one clear mission.</a:t>
            </a:r>
            <a:endParaRPr lang="en-US" sz="4000" dirty="0"/>
          </a:p>
        </p:txBody>
      </p:sp>
      <p:pic>
        <p:nvPicPr>
          <p:cNvPr id="4" name="Image 0" descr="/tmp/claude-0/render/out/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0"/>
            <a:ext cx="347472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3360" y="2103120"/>
            <a:ext cx="7205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spc="-8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Jonathan Kim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023360" y="2761488"/>
            <a:ext cx="7205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4C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Founder  ·  Software engineer  ·  First-time founder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23360" y="3200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EEF0F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every piece of ScamCatch himself: the Android app, the AI detection pipeline, the live voice, and the cloud behind scamcatch.io.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23360" y="40416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Advisors: none yet. The first seats to fill are a bank fraud-operations lead and an aging researcher.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23360" y="4846320"/>
            <a:ext cx="7205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spc="-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Our goal: </a:t>
            </a:r>
            <a:pPr indent="0" marL="0">
              <a:lnSpc>
                <a:spcPct val="112000"/>
              </a:lnSpc>
              <a:buNone/>
            </a:pPr>
            <a:r>
              <a:rPr lang="en-US" sz="3400" b="1" spc="-50" kern="0" dirty="0">
                <a:solidFill>
                  <a:srgbClr val="F4C27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$0</a:t>
            </a:r>
            <a:pPr indent="0" marL="0">
              <a:lnSpc>
                <a:spcPct val="112000"/>
              </a:lnSpc>
              <a:buNone/>
            </a:pPr>
            <a:r>
              <a:rPr lang="en-US" sz="3400" spc="-50" kern="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lost to scams.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85800" y="6089904"/>
            <a:ext cx="10817352" cy="0"/>
          </a:xfrm>
          <a:prstGeom prst="line">
            <a:avLst/>
          </a:prstGeom>
          <a:noFill/>
          <a:ln w="9525">
            <a:solidFill>
              <a:srgbClr val="EEF0F7">
                <a:alpha val="14000"/>
              </a:srgbClr>
            </a:solidFill>
            <a:prstDash val="solid"/>
          </a:ln>
        </p:spPr>
      </p:sp>
      <p:pic>
        <p:nvPicPr>
          <p:cNvPr id="11" name="Image 1" descr="/tmp/claude-0/render/out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17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6208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EF0F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ScamCatch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6236208"/>
            <a:ext cx="5788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9B1C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by Mirae Opus LLC in California. © 2026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54512" y="6254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389A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Mirae Opus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ScamCatch</dc:title>
  <dc:subject>PptxGenJS Presentation</dc:subject>
  <dc:creator>Jonathan Kim</dc:creator>
  <cp:lastModifiedBy>Jonathan Kim</cp:lastModifiedBy>
  <cp:revision>1</cp:revision>
  <dcterms:created xsi:type="dcterms:W3CDTF">2026-10-13T01:06:50Z</dcterms:created>
  <dcterms:modified xsi:type="dcterms:W3CDTF">2026-10-13T01:06:50Z</dcterms:modified>
</cp:coreProperties>
</file>